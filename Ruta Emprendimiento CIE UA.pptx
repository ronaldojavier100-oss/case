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626" r:id="rId2"/>
    <p:sldId id="63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7537"/>
    <a:srgbClr val="31487A"/>
    <a:srgbClr val="092561"/>
    <a:srgbClr val="DA601C"/>
    <a:srgbClr val="B85118"/>
    <a:srgbClr val="E47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88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DEB18EB-F665-4B41-95C0-716CC0FF13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5" y="680076"/>
            <a:ext cx="1648829" cy="272253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133" y="5488646"/>
            <a:ext cx="1676400" cy="1159112"/>
          </a:xfrm>
          <a:prstGeom prst="rect">
            <a:avLst/>
          </a:prstGeom>
        </p:spPr>
      </p:pic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6F529E33-1AAC-AA2A-1AC2-F29E41E537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25" y="5558856"/>
            <a:ext cx="3729876" cy="1019745"/>
          </a:xfrm>
          <a:prstGeom prst="rect">
            <a:avLst/>
          </a:prstGeom>
        </p:spPr>
      </p:pic>
      <p:pic>
        <p:nvPicPr>
          <p:cNvPr id="8" name="Imagen 7" descr="Imagen borrosa de un edificio&#10;&#10;Descripción generada automáticamente con confianza media">
            <a:extLst>
              <a:ext uri="{FF2B5EF4-FFF2-40B4-BE49-F238E27FC236}">
                <a16:creationId xmlns:a16="http://schemas.microsoft.com/office/drawing/2014/main" id="{BD8571E4-942B-6137-79F1-64C2108A3C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970"/>
            <a:ext cx="12201299" cy="491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8375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84AD33C5-4EFC-0DE5-0B08-08F6CC8D6F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42" y="0"/>
            <a:ext cx="12151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9039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ásico con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6077415" cy="6858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B8212BA-7EAC-78E5-99DD-A5F4DD548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8732"/>
            <a:ext cx="12192000" cy="92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278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ás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just" defTabSz="412750" hangingPunct="0">
              <a:lnSpc>
                <a:spcPct val="120000"/>
              </a:lnSpc>
              <a:defRPr/>
            </a:pPr>
            <a:endParaRPr lang="es-CO" sz="1200" kern="0" dirty="0">
              <a:solidFill>
                <a:srgbClr val="868A8D"/>
              </a:solidFill>
              <a:latin typeface="Montserrat Light"/>
              <a:sym typeface="Montserrat Light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189" y="0"/>
            <a:ext cx="703811" cy="8869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BD52757-FAC3-88B5-9426-562D11867B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8732"/>
            <a:ext cx="12192000" cy="92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3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4">
            <a:extLst>
              <a:ext uri="{FF2B5EF4-FFF2-40B4-BE49-F238E27FC236}">
                <a16:creationId xmlns:a16="http://schemas.microsoft.com/office/drawing/2014/main" id="{0F9FF011-E557-0242-A16D-8546393C0B61}"/>
              </a:ext>
            </a:extLst>
          </p:cNvPr>
          <p:cNvGrpSpPr/>
          <p:nvPr/>
        </p:nvGrpSpPr>
        <p:grpSpPr>
          <a:xfrm>
            <a:off x="1348544" y="2201139"/>
            <a:ext cx="4544834" cy="918777"/>
            <a:chOff x="6263163" y="3823614"/>
            <a:chExt cx="9089668" cy="1837554"/>
          </a:xfrm>
        </p:grpSpPr>
        <p:sp>
          <p:nvSpPr>
            <p:cNvPr id="10" name="TextBox 8"/>
            <p:cNvSpPr txBox="1"/>
            <p:nvPr/>
          </p:nvSpPr>
          <p:spPr>
            <a:xfrm>
              <a:off x="6263163" y="4245396"/>
              <a:ext cx="9089668" cy="14157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4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Mongolian Baiti" panose="03000500000000000000" pitchFamily="66" charset="0"/>
                </a:rPr>
                <a:t>EMPRENDIMIENTO</a:t>
              </a: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9909CB0A-8073-CF41-B4A5-10EE6A4C7A93}"/>
                </a:ext>
              </a:extLst>
            </p:cNvPr>
            <p:cNvSpPr txBox="1"/>
            <p:nvPr/>
          </p:nvSpPr>
          <p:spPr>
            <a:xfrm>
              <a:off x="6263163" y="3823614"/>
              <a:ext cx="6159378" cy="877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hangingPunct="1"/>
              <a:r>
                <a:rPr lang="es-CO" sz="2250" dirty="0">
                  <a:solidFill>
                    <a:schemeClr val="bg1"/>
                  </a:solidFill>
                  <a:latin typeface="Century Gothic" charset="0"/>
                  <a:ea typeface="Century Gothic" charset="0"/>
                  <a:cs typeface="Century Gothic" charset="0"/>
                </a:rPr>
                <a:t>RUTA INSTITUCIONAL </a:t>
              </a:r>
            </a:p>
          </p:txBody>
        </p:sp>
      </p:grpSp>
      <p:sp>
        <p:nvSpPr>
          <p:cNvPr id="12" name="CuadroTexto 11"/>
          <p:cNvSpPr txBox="1"/>
          <p:nvPr/>
        </p:nvSpPr>
        <p:spPr>
          <a:xfrm>
            <a:off x="1468469" y="3242501"/>
            <a:ext cx="5570902" cy="83869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ES" sz="2000" b="1" dirty="0">
                <a:solidFill>
                  <a:schemeClr val="bg1"/>
                </a:solidFill>
                <a:latin typeface="Century Gothic" panose="020B0502020202020204" pitchFamily="34" charset="0"/>
                <a:cs typeface="Candara"/>
              </a:rPr>
              <a:t>Informe práctica profesional – Anexo # 6</a:t>
            </a:r>
            <a:r>
              <a:rPr lang="es-ES" sz="2000" dirty="0">
                <a:solidFill>
                  <a:schemeClr val="bg1"/>
                </a:solidFill>
                <a:latin typeface="Century Gothic" panose="020B0502020202020204" pitchFamily="34" charset="0"/>
                <a:cs typeface="Candara"/>
              </a:rPr>
              <a:t> </a:t>
            </a:r>
            <a:br>
              <a:rPr lang="es-ES" sz="2000" dirty="0">
                <a:solidFill>
                  <a:schemeClr val="bg1"/>
                </a:solidFill>
                <a:latin typeface="Century Gothic" panose="020B0502020202020204" pitchFamily="34" charset="0"/>
                <a:cs typeface="Candara"/>
              </a:rPr>
            </a:br>
            <a:r>
              <a:rPr lang="es-ES" sz="2000" dirty="0">
                <a:solidFill>
                  <a:schemeClr val="bg1"/>
                </a:solidFill>
                <a:latin typeface="Century Gothic" panose="020B0502020202020204" pitchFamily="34" charset="0"/>
                <a:cs typeface="Candara"/>
              </a:rPr>
              <a:t>Ronaldo Javier Martinez Mur</a:t>
            </a:r>
          </a:p>
          <a:p>
            <a:pPr defTabSz="412750" hangingPunct="0"/>
            <a:endParaRPr lang="en-US" sz="1200" dirty="0">
              <a:solidFill>
                <a:schemeClr val="bg1"/>
              </a:solidFill>
              <a:latin typeface="Century Gothic" panose="020B0502020202020204" pitchFamily="34" charset="0"/>
              <a:sym typeface="Montserrat Ligh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4E3766-D207-4F78-9F5A-329C0A98D9AD}"/>
              </a:ext>
            </a:extLst>
          </p:cNvPr>
          <p:cNvSpPr/>
          <p:nvPr/>
        </p:nvSpPr>
        <p:spPr>
          <a:xfrm>
            <a:off x="1236757" y="2662318"/>
            <a:ext cx="27992" cy="269304"/>
          </a:xfrm>
          <a:prstGeom prst="rect">
            <a:avLst/>
          </a:prstGeom>
          <a:solidFill>
            <a:schemeClr val="accent2"/>
          </a:solidFill>
          <a:ln w="3175" cap="flat">
            <a:noFill/>
            <a:miter lim="400000"/>
          </a:ln>
          <a:effectLst>
            <a:outerShdw blurRad="12700" dist="127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algn="ctr" defTabSz="412750" hangingPunct="0"/>
            <a:endParaRPr lang="es-CO" sz="150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74729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1">
            <a:extLst>
              <a:ext uri="{FF2B5EF4-FFF2-40B4-BE49-F238E27FC236}">
                <a16:creationId xmlns:a16="http://schemas.microsoft.com/office/drawing/2014/main" id="{721E303A-4242-38D3-ED0E-EE5BC41AFE5A}"/>
              </a:ext>
            </a:extLst>
          </p:cNvPr>
          <p:cNvSpPr/>
          <p:nvPr/>
        </p:nvSpPr>
        <p:spPr>
          <a:xfrm>
            <a:off x="822960" y="15544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42A5C"/>
          </a:solidFill>
          <a:ln w="12700">
            <a:solidFill>
              <a:srgbClr val="3A5AA8"/>
            </a:solidFill>
            <a:prstDash val="solid"/>
          </a:ln>
        </p:spPr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07C25CD1-A58B-F96F-CAF6-AAEDCB8B633B}"/>
              </a:ext>
            </a:extLst>
          </p:cNvPr>
          <p:cNvSpPr/>
          <p:nvPr/>
        </p:nvSpPr>
        <p:spPr>
          <a:xfrm>
            <a:off x="822960" y="251460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000" dirty="0">
              <a:latin typeface="Century Gothic" panose="020B0502020202020204" pitchFamily="34" charset="0"/>
            </a:endParaRPr>
          </a:p>
        </p:txBody>
      </p:sp>
      <p:pic>
        <p:nvPicPr>
          <p:cNvPr id="6" name="Image 0" descr="/home/claude/work/icons/eyeslash_orange.png">
            <a:extLst>
              <a:ext uri="{FF2B5EF4-FFF2-40B4-BE49-F238E27FC236}">
                <a16:creationId xmlns:a16="http://schemas.microsoft.com/office/drawing/2014/main" id="{08163B88-1E72-6003-F0D2-DDD5D44F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4520"/>
            <a:ext cx="548640" cy="548640"/>
          </a:xfrm>
          <a:prstGeom prst="rect">
            <a:avLst/>
          </a:prstGeom>
        </p:spPr>
      </p:pic>
      <p:sp>
        <p:nvSpPr>
          <p:cNvPr id="7" name="Text 23">
            <a:extLst>
              <a:ext uri="{FF2B5EF4-FFF2-40B4-BE49-F238E27FC236}">
                <a16:creationId xmlns:a16="http://schemas.microsoft.com/office/drawing/2014/main" id="{6C609109-5B3D-9509-BB13-6C85F5D312A9}"/>
              </a:ext>
            </a:extLst>
          </p:cNvPr>
          <p:cNvSpPr/>
          <p:nvPr/>
        </p:nvSpPr>
        <p:spPr>
          <a:xfrm>
            <a:off x="1097280" y="36118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desconoce o conoce poco el CIE</a:t>
            </a:r>
            <a:endParaRPr lang="en-US" sz="15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24">
            <a:extLst>
              <a:ext uri="{FF2B5EF4-FFF2-40B4-BE49-F238E27FC236}">
                <a16:creationId xmlns:a16="http://schemas.microsoft.com/office/drawing/2014/main" id="{458A4D4A-2F0D-6358-AE65-1C68A95D74AF}"/>
              </a:ext>
            </a:extLst>
          </p:cNvPr>
          <p:cNvSpPr/>
          <p:nvPr/>
        </p:nvSpPr>
        <p:spPr>
          <a:xfrm>
            <a:off x="6263640" y="15544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BE7537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AA55AAA1-1148-6DE2-A6BF-D26CCA4EB740}"/>
              </a:ext>
            </a:extLst>
          </p:cNvPr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300" dirty="0">
              <a:solidFill>
                <a:srgbClr val="BE7537"/>
              </a:solidFill>
            </a:endParaRPr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BB519084-AA8A-BCD6-4354-4AFC8ABBE511}"/>
              </a:ext>
            </a:extLst>
          </p:cNvPr>
          <p:cNvSpPr/>
          <p:nvPr/>
        </p:nvSpPr>
        <p:spPr>
          <a:xfrm>
            <a:off x="822960" y="5029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El reto no es la motivación: </a:t>
            </a:r>
            <a:r>
              <a:rPr lang="en-US" sz="15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es la visibilidad, el acceso y la articulación con las facultades.</a:t>
            </a:r>
            <a:endParaRPr lang="en-US" sz="15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E73B440A-EEDD-2513-101F-D0F7076B189E}"/>
              </a:ext>
            </a:extLst>
          </p:cNvPr>
          <p:cNvSpPr/>
          <p:nvPr/>
        </p:nvSpPr>
        <p:spPr>
          <a:xfrm>
            <a:off x="6263640" y="251460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87,7%</a:t>
            </a:r>
            <a:endParaRPr lang="en-US" sz="6000" dirty="0">
              <a:latin typeface="Century Gothic" panose="020B0502020202020204" pitchFamily="34" charset="0"/>
            </a:endParaRPr>
          </a:p>
        </p:txBody>
      </p:sp>
      <p:sp>
        <p:nvSpPr>
          <p:cNvPr id="12" name="Text 26">
            <a:extLst>
              <a:ext uri="{FF2B5EF4-FFF2-40B4-BE49-F238E27FC236}">
                <a16:creationId xmlns:a16="http://schemas.microsoft.com/office/drawing/2014/main" id="{847947D7-4C4C-6420-B719-2B8C44E6CDB9}"/>
              </a:ext>
            </a:extLst>
          </p:cNvPr>
          <p:cNvSpPr/>
          <p:nvPr/>
        </p:nvSpPr>
        <p:spPr>
          <a:xfrm>
            <a:off x="6537960" y="36118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manifiesta interés real en emprender</a:t>
            </a:r>
            <a:endParaRPr lang="en-US" sz="15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Image 1" descr="/home/claude/work/icons/fire_white.png">
            <a:extLst>
              <a:ext uri="{FF2B5EF4-FFF2-40B4-BE49-F238E27FC236}">
                <a16:creationId xmlns:a16="http://schemas.microsoft.com/office/drawing/2014/main" id="{14D3756B-5C8E-369E-50D4-442C82F9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271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MARCO INSTITUCIONAL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Fundamento en el PDI 2022–2031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7" name="Image 0" descr="/home/claude/work/icons/mapmarke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803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Línea Estratégica 3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Extensión y Proyección Social.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10712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0712" y="155448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12" name="Shape 9"/>
          <p:cNvSpPr/>
          <p:nvPr/>
        </p:nvSpPr>
        <p:spPr>
          <a:xfrm>
            <a:off x="3730752" y="192024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3" name="Image 1" descr="/home/claude/work/icons/mega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103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8803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Estrategia 7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639312" y="338328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Sensibilización, acompañamiento y transferencia de conocimiento.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81344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81344" y="155448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01384" y="192024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9" name="Image 2" descr="/home/claude/work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1031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9944" y="28803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Estrategia 2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09944" y="338328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Cultura de innovación y emprendimiento mediante formación y asesoría.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951976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951976" y="1554480"/>
            <a:ext cx="2542032" cy="82296"/>
          </a:xfrm>
          <a:prstGeom prst="roundRect">
            <a:avLst/>
          </a:prstGeom>
          <a:solidFill>
            <a:srgbClr val="BE7537"/>
          </a:solidFill>
          <a:ln/>
        </p:spPr>
      </p:sp>
      <p:sp>
        <p:nvSpPr>
          <p:cNvPr id="24" name="Shape 19"/>
          <p:cNvSpPr/>
          <p:nvPr/>
        </p:nvSpPr>
        <p:spPr>
          <a:xfrm>
            <a:off x="9272016" y="1920240"/>
            <a:ext cx="777240" cy="7772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5" name="Image 3" descr="/home/claude/work/icons/fl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1031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0576" y="28803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Metas del PDI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9180576" y="338328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Política de innovación y emprendimiento; Centro 'UA Emprende' (sostenibilidad ≥3%); 2 spin-off; Parque Tecnológico del Caribe.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ED9E8B-E65C-9DBD-5B9F-92F5880BC79E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DISEÑO METODOLÓGICO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Principios de la ruta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64792"/>
            <a:ext cx="548640" cy="5486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6" name="Image 0" descr="/home/claude/work/icons/rand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019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No lineal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Cada iniciativa entra según su nivel de madurez.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64792"/>
            <a:ext cx="548640" cy="5486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1" name="Image 1" descr="/home/claude/work/icons/slid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019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7099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Flexible y personalizada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53712" y="24688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Se adapta al punto de partida del proyecto.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10144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764792"/>
            <a:ext cx="548640" cy="5486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6" name="Image 2" descr="/home/claude/work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01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70992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Transversal a todas las facultades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38744" y="24688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No exclusiva de un programa.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69664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1" name="Image 3" descr="/home/claude/work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068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Articulada con el ecosistema regional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68680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Conecta con aliados externos.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25112" y="3913632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169664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6" name="Image 4" descr="/home/claude/work/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3068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Basada en la demanda real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553712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Responde a lo identificado en el diagnóstico</a:t>
            </a:r>
            <a:r>
              <a:rPr lang="en-US" sz="1100" dirty="0">
                <a:solidFill>
                  <a:srgbClr val="6B7280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010144" y="3913632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4169664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31" name="Image 5" descr="/home/claude/work/icons/chartb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306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4114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Medible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238744" y="4873752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 indicadores de impacto por fase.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1E8DCC3-3CAD-D92B-BD62-2E48EA882988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GOBERNANZA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9256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Actores y roles</a:t>
            </a:r>
            <a:endParaRPr lang="en-US" sz="2800" dirty="0">
              <a:solidFill>
                <a:srgbClr val="09256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36776"/>
            <a:ext cx="530352" cy="530352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6" name="Image 0" descr="/home/claude/work/icons/univers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0876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CIE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6320" y="1508760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Coordina la ruta y sirve de eje articulador de indicadores.</a:t>
            </a:r>
            <a:endParaRPr lang="en-US" sz="1250" dirty="0">
              <a:latin typeface="Century Gothic" panose="020B0502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2441448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569464"/>
            <a:ext cx="530352" cy="530352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11" name="Image 1" descr="/home/claude/work/icons/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441448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Docente enlace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46320" y="2441448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Enlaza cada facultad; punto permanente de contacto CIE–facultad.</a:t>
            </a:r>
            <a:endParaRPr lang="en-US" sz="1250" dirty="0">
              <a:latin typeface="Century Gothic" panose="020B0502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374136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3502152"/>
            <a:ext cx="530352" cy="530352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16" name="Image 2" descr="/home/claude/work/icons/userti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6301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74136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Red de mentores multidisciplinario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46320" y="3374136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Docentes, empresarios y egresados.</a:t>
            </a:r>
            <a:endParaRPr lang="en-US" sz="1250" dirty="0">
              <a:latin typeface="Century Gothic" panose="020B0502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30682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434840"/>
            <a:ext cx="530352" cy="530352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21" name="Image 3" descr="/home/claude/work/icon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56285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06824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Semilleros y grupos de investigación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846320" y="4306824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Fuente de proyectos e ideas tempranas.</a:t>
            </a:r>
            <a:endParaRPr lang="en-US" sz="1250" dirty="0">
              <a:latin typeface="Century Gothic" panose="020B0502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40080" y="5239512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5367528"/>
            <a:ext cx="530352" cy="530352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26" name="Image 4" descr="/home/claude/work/icons/handshak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49554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39512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Aliados externos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846320" y="5239512"/>
            <a:ext cx="6492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Comfamiliar (OTRI), Cámaras de Comercio, Macondolab, Ruta N.</a:t>
            </a:r>
            <a:endParaRPr lang="en-US" sz="1250" dirty="0">
              <a:latin typeface="Century Gothic" panose="020B0502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B74F485-2DEB-9682-46B6-03C875AFC835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VISIÓN GENERAL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Esquema general de la ruta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Ruta Institucional de Emprendimiento  CIE, Universidad del Atlántico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BE75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T1 ·  COMUNICACIÓN  (correo institucional + WhatsApp)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8" name="Shape 6"/>
          <p:cNvSpPr/>
          <p:nvPr/>
        </p:nvSpPr>
        <p:spPr>
          <a:xfrm>
            <a:off x="118414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9" name="Image 0" descr="/home/claude/work/icons/mega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3774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323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Sensibilización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059" y="3744329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Charlas, ferias,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conversatorios, campañas difusion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 rot="5400000">
            <a:off x="2311146" y="3506724"/>
            <a:ext cx="137160" cy="164592"/>
          </a:xfrm>
          <a:prstGeom prst="triangle">
            <a:avLst/>
          </a:prstGeom>
          <a:solidFill>
            <a:srgbClr val="BE7537"/>
          </a:solidFill>
          <a:ln/>
        </p:spPr>
      </p:sp>
      <p:sp>
        <p:nvSpPr>
          <p:cNvPr id="14" name="Shape 11"/>
          <p:cNvSpPr/>
          <p:nvPr/>
        </p:nvSpPr>
        <p:spPr>
          <a:xfrm>
            <a:off x="244602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15" name="Shape 12"/>
          <p:cNvSpPr/>
          <p:nvPr/>
        </p:nvSpPr>
        <p:spPr>
          <a:xfrm>
            <a:off x="299008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16" name="Image 1" descr="/home/claude/wor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37744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4602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51917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Identificación e ideación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415498" y="3742436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Convocatorias, recepción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de ideas, semilleros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 rot="5400000">
            <a:off x="4117086" y="3506724"/>
            <a:ext cx="137160" cy="164592"/>
          </a:xfrm>
          <a:prstGeom prst="triangle">
            <a:avLst/>
          </a:prstGeom>
          <a:solidFill>
            <a:srgbClr val="BE7537"/>
          </a:solidFill>
          <a:ln/>
        </p:spPr>
      </p:sp>
      <p:sp>
        <p:nvSpPr>
          <p:cNvPr id="21" name="Shape 17"/>
          <p:cNvSpPr/>
          <p:nvPr/>
        </p:nvSpPr>
        <p:spPr>
          <a:xfrm>
            <a:off x="425196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22" name="Shape 18"/>
          <p:cNvSpPr/>
          <p:nvPr/>
        </p:nvSpPr>
        <p:spPr>
          <a:xfrm>
            <a:off x="479602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3" name="Image 2" descr="/home/claude/work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37744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25196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32511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Diagnóstico y clasificación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296876" y="3742436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Nivel de madurez;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ruta personalizada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Shape 22"/>
          <p:cNvSpPr/>
          <p:nvPr/>
        </p:nvSpPr>
        <p:spPr>
          <a:xfrm rot="5400000">
            <a:off x="5923026" y="3506724"/>
            <a:ext cx="137160" cy="164592"/>
          </a:xfrm>
          <a:prstGeom prst="triangle">
            <a:avLst/>
          </a:prstGeom>
          <a:solidFill>
            <a:srgbClr val="BE7537"/>
          </a:solidFill>
          <a:ln/>
        </p:spPr>
      </p:sp>
      <p:sp>
        <p:nvSpPr>
          <p:cNvPr id="28" name="Shape 23"/>
          <p:cNvSpPr/>
          <p:nvPr/>
        </p:nvSpPr>
        <p:spPr>
          <a:xfrm>
            <a:off x="605790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29" name="Shape 24"/>
          <p:cNvSpPr/>
          <p:nvPr/>
        </p:nvSpPr>
        <p:spPr>
          <a:xfrm>
            <a:off x="660196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30" name="Image 3" descr="/home/claude/work/icon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377440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05790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13105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Formación y preincubación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159627" y="3742436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Modelo negocio,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finanzas, MVP, validación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Shape 28"/>
          <p:cNvSpPr/>
          <p:nvPr/>
        </p:nvSpPr>
        <p:spPr>
          <a:xfrm rot="5400000">
            <a:off x="7728966" y="3506724"/>
            <a:ext cx="137160" cy="164592"/>
          </a:xfrm>
          <a:prstGeom prst="triangle">
            <a:avLst/>
          </a:prstGeom>
          <a:solidFill>
            <a:srgbClr val="BE7537"/>
          </a:solidFill>
          <a:ln/>
        </p:spPr>
      </p:sp>
      <p:sp>
        <p:nvSpPr>
          <p:cNvPr id="35" name="Shape 29"/>
          <p:cNvSpPr/>
          <p:nvPr/>
        </p:nvSpPr>
        <p:spPr>
          <a:xfrm>
            <a:off x="786384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36" name="Shape 30"/>
          <p:cNvSpPr/>
          <p:nvPr/>
        </p:nvSpPr>
        <p:spPr>
          <a:xfrm>
            <a:off x="840790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37" name="Image 4" descr="/home/claude/work/icons/seedl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780" y="2377440"/>
            <a:ext cx="347472" cy="347472"/>
          </a:xfrm>
          <a:prstGeom prst="rect">
            <a:avLst/>
          </a:prstGeom>
          <a:noFill/>
        </p:spPr>
      </p:pic>
      <p:sp>
        <p:nvSpPr>
          <p:cNvPr id="38" name="Text 31"/>
          <p:cNvSpPr/>
          <p:nvPr/>
        </p:nvSpPr>
        <p:spPr>
          <a:xfrm>
            <a:off x="786384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793699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Incubación y fortalecimiento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7936992" y="3742436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Mentorías, branding,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digital, legal/tributaria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Shape 34"/>
          <p:cNvSpPr/>
          <p:nvPr/>
        </p:nvSpPr>
        <p:spPr>
          <a:xfrm rot="5400000">
            <a:off x="9534906" y="3506724"/>
            <a:ext cx="137160" cy="164592"/>
          </a:xfrm>
          <a:prstGeom prst="triangle">
            <a:avLst/>
          </a:prstGeom>
          <a:solidFill>
            <a:srgbClr val="BE7537"/>
          </a:solidFill>
          <a:ln/>
        </p:spPr>
      </p:sp>
      <p:sp>
        <p:nvSpPr>
          <p:cNvPr id="42" name="Shape 35"/>
          <p:cNvSpPr/>
          <p:nvPr/>
        </p:nvSpPr>
        <p:spPr>
          <a:xfrm>
            <a:off x="9669780" y="2057400"/>
            <a:ext cx="1673352" cy="2455333"/>
          </a:xfrm>
          <a:prstGeom prst="roundRect">
            <a:avLst>
              <a:gd name="adj" fmla="val 4918"/>
            </a:avLst>
          </a:prstGeom>
          <a:solidFill>
            <a:srgbClr val="31487A"/>
          </a:solidFill>
          <a:ln/>
        </p:spPr>
      </p:sp>
      <p:sp>
        <p:nvSpPr>
          <p:cNvPr id="43" name="Shape 36"/>
          <p:cNvSpPr/>
          <p:nvPr/>
        </p:nvSpPr>
        <p:spPr>
          <a:xfrm>
            <a:off x="10213848" y="2258568"/>
            <a:ext cx="585216" cy="585216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44" name="Image 5" descr="/home/claude/work/icons/rock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2377440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669780" y="2916936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2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742932" y="3172968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Aceleración, financiación y transferencia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9742932" y="3742436"/>
            <a:ext cx="15270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Convocatorias, capital,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PI, spin-off, ecosistema</a:t>
            </a:r>
            <a:endParaRPr lang="en-US" sz="9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640080" y="5257800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31487A"/>
          </a:solidFill>
          <a:ln/>
        </p:spPr>
      </p:sp>
      <p:sp>
        <p:nvSpPr>
          <p:cNvPr id="49" name="Text 41"/>
          <p:cNvSpPr/>
          <p:nvPr/>
        </p:nvSpPr>
        <p:spPr>
          <a:xfrm>
            <a:off x="640080" y="52578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T3· ARTICULACIÓN CON FACULTADES (docente enlace)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640080" y="57424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Ruta no lineal: cada iniciativa ingresa en la fase correspondiente a su nivel de madurez (definido en F3).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E3FFFDC-7E5E-09F0-5027-144FFA8FF64B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53" name="Shape 40">
            <a:extLst>
              <a:ext uri="{FF2B5EF4-FFF2-40B4-BE49-F238E27FC236}">
                <a16:creationId xmlns:a16="http://schemas.microsoft.com/office/drawing/2014/main" id="{C9A27E3A-25F1-A9D8-4AE8-42219E232E96}"/>
              </a:ext>
            </a:extLst>
          </p:cNvPr>
          <p:cNvSpPr/>
          <p:nvPr/>
        </p:nvSpPr>
        <p:spPr>
          <a:xfrm>
            <a:off x="617220" y="4717567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31487A"/>
          </a:solidFill>
          <a:ln/>
        </p:spPr>
      </p:sp>
      <p:sp>
        <p:nvSpPr>
          <p:cNvPr id="54" name="Text 41">
            <a:extLst>
              <a:ext uri="{FF2B5EF4-FFF2-40B4-BE49-F238E27FC236}">
                <a16:creationId xmlns:a16="http://schemas.microsoft.com/office/drawing/2014/main" id="{18462FF4-5E18-9C52-5895-F1A955601E39}"/>
              </a:ext>
            </a:extLst>
          </p:cNvPr>
          <p:cNvSpPr/>
          <p:nvPr/>
        </p:nvSpPr>
        <p:spPr>
          <a:xfrm>
            <a:off x="617220" y="4717567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T2 · SEGUIMIENTO E INDICADORES (Metas de sostenibilidad PDI)</a:t>
            </a:r>
            <a:endParaRPr lang="en-US" sz="11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6" name="Shape 4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7" name="Shape 5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3246120" cy="6224337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mega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3400" y="3337560"/>
            <a:ext cx="2484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Sensibilización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256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Despertar la cultura emprendedora.</a:t>
            </a:r>
            <a:endParaRPr lang="en-US" sz="1700" dirty="0">
              <a:solidFill>
                <a:srgbClr val="09256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3148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  <a:noFill/>
        </p:spPr>
      </p:pic>
      <p:sp>
        <p:nvSpPr>
          <p:cNvPr id="31" name="Text 27"/>
          <p:cNvSpPr/>
          <p:nvPr/>
        </p:nvSpPr>
        <p:spPr>
          <a:xfrm>
            <a:off x="4114800" y="29032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Charlas y talleres de sensibilización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17392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1249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Ferias de emprendimiento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4" name="Image 3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055872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14800" y="394563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Cine-foros, conversatorios y testimonios de emprendedores y egresados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3611880" y="512978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785616" y="5296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3785616" y="54889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256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Comunidad sensibilizada y captación de interesados.</a:t>
            </a:r>
            <a:endParaRPr lang="en-US" sz="1300" dirty="0">
              <a:solidFill>
                <a:srgbClr val="09256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8" name="Image 3" descr="/home/claude/work/icons/check_blue.png">
            <a:extLst>
              <a:ext uri="{FF2B5EF4-FFF2-40B4-BE49-F238E27FC236}">
                <a16:creationId xmlns:a16="http://schemas.microsoft.com/office/drawing/2014/main" id="{A887110B-94FA-18FC-1643-51052CDA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566158"/>
            <a:ext cx="256032" cy="256032"/>
          </a:xfrm>
          <a:prstGeom prst="rect">
            <a:avLst/>
          </a:prstGeom>
        </p:spPr>
      </p:pic>
      <p:sp>
        <p:nvSpPr>
          <p:cNvPr id="49" name="Text 29">
            <a:extLst>
              <a:ext uri="{FF2B5EF4-FFF2-40B4-BE49-F238E27FC236}">
                <a16:creationId xmlns:a16="http://schemas.microsoft.com/office/drawing/2014/main" id="{24DAE24D-3577-117E-B6A7-8E6C6C64A5EE}"/>
              </a:ext>
            </a:extLst>
          </p:cNvPr>
          <p:cNvSpPr/>
          <p:nvPr/>
        </p:nvSpPr>
        <p:spPr>
          <a:xfrm>
            <a:off x="4114800" y="443357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Campañas de difusión del CIE por los canales institucionales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994D370-68E4-4923-102C-05CF81558D2E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30">
            <a:extLst>
              <a:ext uri="{FF2B5EF4-FFF2-40B4-BE49-F238E27FC236}">
                <a16:creationId xmlns:a16="http://schemas.microsoft.com/office/drawing/2014/main" id="{4D90D40B-10BA-FF59-E4C5-89C24774DBD6}"/>
              </a:ext>
            </a:extLst>
          </p:cNvPr>
          <p:cNvSpPr/>
          <p:nvPr/>
        </p:nvSpPr>
        <p:spPr>
          <a:xfrm>
            <a:off x="3611880" y="512978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5" name="Text 3"/>
          <p:cNvSpPr/>
          <p:nvPr/>
        </p:nvSpPr>
        <p:spPr>
          <a:xfrm>
            <a:off x="8430768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7" name="Shape 5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3246120" cy="6192253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Identificación e ideación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Captar ideas y darles forma inicial.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14800" y="287121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Convocatorias internas periódicas de recepción de ideas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366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Sesiones de ideación asistida y generación de oportunidades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Image 3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064508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14800" y="39375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Vinculación de las iniciativas con semilleros y grupos de investigación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3831336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3831336" y="551383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Proyecto inscrito con ficha inicial.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pic>
        <p:nvPicPr>
          <p:cNvPr id="50" name="Image 3" descr="/home/claude/work/icons/check_blue.png">
            <a:extLst>
              <a:ext uri="{FF2B5EF4-FFF2-40B4-BE49-F238E27FC236}">
                <a16:creationId xmlns:a16="http://schemas.microsoft.com/office/drawing/2014/main" id="{3B1ADBC4-670F-F5F8-9C97-B2ABE8FBC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603496"/>
            <a:ext cx="256032" cy="256032"/>
          </a:xfrm>
          <a:prstGeom prst="rect">
            <a:avLst/>
          </a:prstGeom>
        </p:spPr>
      </p:pic>
      <p:sp>
        <p:nvSpPr>
          <p:cNvPr id="51" name="Text 29">
            <a:extLst>
              <a:ext uri="{FF2B5EF4-FFF2-40B4-BE49-F238E27FC236}">
                <a16:creationId xmlns:a16="http://schemas.microsoft.com/office/drawing/2014/main" id="{64384967-A47C-385B-8E3D-76969F9E98AF}"/>
              </a:ext>
            </a:extLst>
          </p:cNvPr>
          <p:cNvSpPr/>
          <p:nvPr/>
        </p:nvSpPr>
        <p:spPr>
          <a:xfrm>
            <a:off x="4114800" y="44988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Registro de la idea mediante una ficha inicial estandarizada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02469B3-EC62-F0E1-025B-8C161176D061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6" name="Text 4"/>
          <p:cNvSpPr/>
          <p:nvPr/>
        </p:nvSpPr>
        <p:spPr>
          <a:xfrm>
            <a:off x="8997696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3246120" cy="6192253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Diagnóstico y clasificación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Valorar el nivel de madurez del proyecto.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14800" y="291117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Aplicación de herramienta de clasificación por etapas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42265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Identificación de capacidades del equipo, necesidades y nivel de madurez.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3566160" y="500401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751045" y="522625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749040" y="5419005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Diagnóstico y ruta personalizada.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pic>
        <p:nvPicPr>
          <p:cNvPr id="47" name="Image 2" descr="/home/claude/work/icons/check_blue.png">
            <a:extLst>
              <a:ext uri="{FF2B5EF4-FFF2-40B4-BE49-F238E27FC236}">
                <a16:creationId xmlns:a16="http://schemas.microsoft.com/office/drawing/2014/main" id="{5EDF5DAA-DA70-AF26-2CD0-F79DB2C8F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137099"/>
            <a:ext cx="256032" cy="256032"/>
          </a:xfrm>
          <a:prstGeom prst="rect">
            <a:avLst/>
          </a:prstGeom>
        </p:spPr>
      </p:pic>
      <p:sp>
        <p:nvSpPr>
          <p:cNvPr id="48" name="Text 28">
            <a:extLst>
              <a:ext uri="{FF2B5EF4-FFF2-40B4-BE49-F238E27FC236}">
                <a16:creationId xmlns:a16="http://schemas.microsoft.com/office/drawing/2014/main" id="{DF6F2FCE-CE3C-C603-BC98-50D76311E72F}"/>
              </a:ext>
            </a:extLst>
          </p:cNvPr>
          <p:cNvSpPr/>
          <p:nvPr/>
        </p:nvSpPr>
        <p:spPr>
          <a:xfrm>
            <a:off x="4114800" y="4030419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Definición del plan de acompañamiento personalizado.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2" descr="/home/claude/work/icons/check_blue.png">
            <a:extLst>
              <a:ext uri="{FF2B5EF4-FFF2-40B4-BE49-F238E27FC236}">
                <a16:creationId xmlns:a16="http://schemas.microsoft.com/office/drawing/2014/main" id="{E271AE41-1688-526F-90E2-42B5282E5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632524"/>
            <a:ext cx="256032" cy="256032"/>
          </a:xfrm>
          <a:prstGeom prst="rect">
            <a:avLst/>
          </a:prstGeom>
        </p:spPr>
      </p:pic>
      <p:sp>
        <p:nvSpPr>
          <p:cNvPr id="52" name="Text 28">
            <a:extLst>
              <a:ext uri="{FF2B5EF4-FFF2-40B4-BE49-F238E27FC236}">
                <a16:creationId xmlns:a16="http://schemas.microsoft.com/office/drawing/2014/main" id="{E64D1370-6C8E-D948-1ADE-033C81B49867}"/>
              </a:ext>
            </a:extLst>
          </p:cNvPr>
          <p:cNvSpPr/>
          <p:nvPr/>
        </p:nvSpPr>
        <p:spPr>
          <a:xfrm>
            <a:off x="4114800" y="450109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Asignación de mentor(es) según el área y la etapa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6E51A28-3F9D-E13E-C103-991B423396C1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9">
            <a:extLst>
              <a:ext uri="{FF2B5EF4-FFF2-40B4-BE49-F238E27FC236}">
                <a16:creationId xmlns:a16="http://schemas.microsoft.com/office/drawing/2014/main" id="{63826F35-E03B-8394-8211-461A4D3312BF}"/>
              </a:ext>
            </a:extLst>
          </p:cNvPr>
          <p:cNvSpPr/>
          <p:nvPr/>
        </p:nvSpPr>
        <p:spPr>
          <a:xfrm>
            <a:off x="3566160" y="500401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6" name="Shape 4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7" name="Text 5"/>
          <p:cNvSpPr/>
          <p:nvPr/>
        </p:nvSpPr>
        <p:spPr>
          <a:xfrm>
            <a:off x="9564624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3246120" cy="6208295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20700" y="3337560"/>
            <a:ext cx="24968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Formación y preincubación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Fortalecer capacidades y validar la propuesta.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14800" y="28849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Modelo de negocio (BMC)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518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Educación financiera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4" name="Image 3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067917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14800" y="397531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  <a:cs typeface="Arial" panose="020B0604020202020204" pitchFamily="34" charset="0"/>
              </a:rPr>
              <a:t>Formación en marketing digital y ventas.</a:t>
            </a:r>
            <a:endParaRPr lang="en-US" sz="1350" dirty="0"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3749040" y="5196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3749040" y="5384123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Modelo de negocio validado + MVP.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pic>
        <p:nvPicPr>
          <p:cNvPr id="50" name="Image 3" descr="/home/claude/work/icons/check_blue.png">
            <a:extLst>
              <a:ext uri="{FF2B5EF4-FFF2-40B4-BE49-F238E27FC236}">
                <a16:creationId xmlns:a16="http://schemas.microsoft.com/office/drawing/2014/main" id="{E710EC7B-ADA6-CFBC-F7BB-696C06820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604049"/>
            <a:ext cx="256032" cy="256032"/>
          </a:xfrm>
          <a:prstGeom prst="rect">
            <a:avLst/>
          </a:prstGeom>
        </p:spPr>
      </p:pic>
      <p:sp>
        <p:nvSpPr>
          <p:cNvPr id="51" name="Text 29">
            <a:extLst>
              <a:ext uri="{FF2B5EF4-FFF2-40B4-BE49-F238E27FC236}">
                <a16:creationId xmlns:a16="http://schemas.microsoft.com/office/drawing/2014/main" id="{15E9C612-BF33-8FBC-9F3C-5AE9D9728B8D}"/>
              </a:ext>
            </a:extLst>
          </p:cNvPr>
          <p:cNvSpPr/>
          <p:nvPr/>
        </p:nvSpPr>
        <p:spPr>
          <a:xfrm>
            <a:off x="4114800" y="4467183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Construcción de MVP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6CF5F34-2EDC-817B-AC57-79D02575F833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9">
            <a:extLst>
              <a:ext uri="{FF2B5EF4-FFF2-40B4-BE49-F238E27FC236}">
                <a16:creationId xmlns:a16="http://schemas.microsoft.com/office/drawing/2014/main" id="{0EA0B2FC-9AC7-FB8B-51B4-9DEC4AFB6EA3}"/>
              </a:ext>
            </a:extLst>
          </p:cNvPr>
          <p:cNvSpPr/>
          <p:nvPr/>
        </p:nvSpPr>
        <p:spPr>
          <a:xfrm>
            <a:off x="3566160" y="500401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6" name="Shape 4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7" name="Shape 5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8" name="Text 6"/>
          <p:cNvSpPr/>
          <p:nvPr/>
        </p:nvSpPr>
        <p:spPr>
          <a:xfrm>
            <a:off x="10131552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3246120" cy="6208295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95300" y="3337560"/>
            <a:ext cx="25222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Incubación y fortalecimiento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Poner en marcha y robustecer la iniciativa.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14800" y="28591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Mentorías especializadas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62127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Branding y transformación digital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4" name="Image 3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133088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14800" y="4001115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Asesoría legal y tributaria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3749040" y="518854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3749040" y="5347377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Emprendimiento en operación.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pic>
        <p:nvPicPr>
          <p:cNvPr id="50" name="Image 3" descr="/home/claude/work/icons/check_blue.png">
            <a:extLst>
              <a:ext uri="{FF2B5EF4-FFF2-40B4-BE49-F238E27FC236}">
                <a16:creationId xmlns:a16="http://schemas.microsoft.com/office/drawing/2014/main" id="{47EEF4F2-20E4-599D-688E-D9148145A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272" y="4679866"/>
            <a:ext cx="256032" cy="256032"/>
          </a:xfrm>
          <a:prstGeom prst="rect">
            <a:avLst/>
          </a:prstGeom>
        </p:spPr>
      </p:pic>
      <p:sp>
        <p:nvSpPr>
          <p:cNvPr id="51" name="Text 29">
            <a:extLst>
              <a:ext uri="{FF2B5EF4-FFF2-40B4-BE49-F238E27FC236}">
                <a16:creationId xmlns:a16="http://schemas.microsoft.com/office/drawing/2014/main" id="{94D0EEE2-C07F-047A-D64F-BA7BBF398D22}"/>
              </a:ext>
            </a:extLst>
          </p:cNvPr>
          <p:cNvSpPr/>
          <p:nvPr/>
        </p:nvSpPr>
        <p:spPr>
          <a:xfrm>
            <a:off x="4114800" y="4511361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Transformación digital y presencia en canales digitales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1CCBA54-D0EE-5D89-427F-085218938F12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11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9">
            <a:extLst>
              <a:ext uri="{FF2B5EF4-FFF2-40B4-BE49-F238E27FC236}">
                <a16:creationId xmlns:a16="http://schemas.microsoft.com/office/drawing/2014/main" id="{3FC78FB8-05FA-78F0-6762-0D01B8EBEF31}"/>
              </a:ext>
            </a:extLst>
          </p:cNvPr>
          <p:cNvSpPr/>
          <p:nvPr/>
        </p:nvSpPr>
        <p:spPr>
          <a:xfrm>
            <a:off x="3566160" y="5004014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7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LA RUTA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863840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" name="Shape 2"/>
          <p:cNvSpPr/>
          <p:nvPr/>
        </p:nvSpPr>
        <p:spPr>
          <a:xfrm>
            <a:off x="8430768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6" name="Shape 4"/>
          <p:cNvSpPr/>
          <p:nvPr/>
        </p:nvSpPr>
        <p:spPr>
          <a:xfrm>
            <a:off x="9564624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7" name="Shape 5"/>
          <p:cNvSpPr/>
          <p:nvPr/>
        </p:nvSpPr>
        <p:spPr>
          <a:xfrm>
            <a:off x="10131552" y="530352"/>
            <a:ext cx="310896" cy="310896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530352"/>
            <a:ext cx="310896" cy="310896"/>
          </a:xfrm>
          <a:prstGeom prst="ellipse">
            <a:avLst/>
          </a:prstGeom>
          <a:solidFill>
            <a:srgbClr val="BE7537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0" y="530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3246120" cy="6208295"/>
          </a:xfrm>
          <a:prstGeom prst="rect">
            <a:avLst/>
          </a:prstGeom>
          <a:solidFill>
            <a:srgbClr val="31487A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1176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0632" y="5212080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1176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5431536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1720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0632" y="5650992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1176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70632" y="5870448"/>
            <a:ext cx="82296" cy="82296"/>
          </a:xfrm>
          <a:prstGeom prst="ellipse">
            <a:avLst/>
          </a:prstGeom>
          <a:solidFill>
            <a:srgbClr val="2C4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1371600"/>
            <a:ext cx="1371600" cy="137160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4" name="Image 0" descr="/home/claude/work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640080" cy="640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FASE 6</a:t>
            </a:r>
            <a:endParaRPr lang="en-US" sz="15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3337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Aceleración, financiación y transferencia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033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33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Escalar y conectar con el ecosistema.</a:t>
            </a:r>
            <a:endParaRPr lang="en-US" sz="170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70332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25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Image 1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99923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114800" y="288268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Convocatorias de capital semilla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pic>
        <p:nvPicPr>
          <p:cNvPr id="32" name="Image 2" descr="/home/claude/work/icons/check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114800" y="3462127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Gestión de propiedad intelectual y spin-off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3703320" y="522347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ENTREGABLE</a:t>
            </a:r>
            <a:endParaRPr lang="en-US" sz="11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703320" y="5394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Proyecto conectado a financiación y ecosistema.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pic>
        <p:nvPicPr>
          <p:cNvPr id="48" name="Image 1" descr="/home/claude/work/icons/check_blue.png">
            <a:extLst>
              <a:ext uri="{FF2B5EF4-FFF2-40B4-BE49-F238E27FC236}">
                <a16:creationId xmlns:a16="http://schemas.microsoft.com/office/drawing/2014/main" id="{2DD8EA2A-2449-799F-3EE2-515A0F7A7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704" y="4066794"/>
            <a:ext cx="256032" cy="256032"/>
          </a:xfrm>
          <a:prstGeom prst="rect">
            <a:avLst/>
          </a:prstGeom>
        </p:spPr>
      </p:pic>
      <p:pic>
        <p:nvPicPr>
          <p:cNvPr id="49" name="Image 1" descr="/home/claude/work/icons/check_blue.png">
            <a:extLst>
              <a:ext uri="{FF2B5EF4-FFF2-40B4-BE49-F238E27FC236}">
                <a16:creationId xmlns:a16="http://schemas.microsoft.com/office/drawing/2014/main" id="{B38F7795-8D46-567F-7B1A-F5746D998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704" y="4546814"/>
            <a:ext cx="256032" cy="256032"/>
          </a:xfrm>
          <a:prstGeom prst="rect">
            <a:avLst/>
          </a:prstGeom>
        </p:spPr>
      </p:pic>
      <p:sp>
        <p:nvSpPr>
          <p:cNvPr id="50" name="Text 28">
            <a:extLst>
              <a:ext uri="{FF2B5EF4-FFF2-40B4-BE49-F238E27FC236}">
                <a16:creationId xmlns:a16="http://schemas.microsoft.com/office/drawing/2014/main" id="{860E9E8C-2A3A-534A-18B1-9B84C1446A4E}"/>
              </a:ext>
            </a:extLst>
          </p:cNvPr>
          <p:cNvSpPr/>
          <p:nvPr/>
        </p:nvSpPr>
        <p:spPr>
          <a:xfrm>
            <a:off x="4114800" y="3933043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Ferias, ruedas de negocio y espacios de </a:t>
            </a:r>
            <a:r>
              <a:rPr lang="es-MX" sz="1350" dirty="0" err="1">
                <a:solidFill>
                  <a:srgbClr val="333333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AF9452-CBB7-8895-0A4C-8F2793E08D97}"/>
              </a:ext>
            </a:extLst>
          </p:cNvPr>
          <p:cNvSpPr/>
          <p:nvPr/>
        </p:nvSpPr>
        <p:spPr>
          <a:xfrm>
            <a:off x="4114800" y="442819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dirty="0">
                <a:latin typeface="Century Gothic" panose="020B0502020202020204" pitchFamily="34" charset="0"/>
              </a:rPr>
              <a:t>Desarrollo de spin-</a:t>
            </a:r>
            <a:r>
              <a:rPr lang="es-MX" sz="1350" dirty="0" err="1">
                <a:latin typeface="Century Gothic" panose="020B0502020202020204" pitchFamily="34" charset="0"/>
              </a:rPr>
              <a:t>offs</a:t>
            </a:r>
            <a:r>
              <a:rPr lang="es-MX" sz="1350" dirty="0">
                <a:latin typeface="Century Gothic" panose="020B0502020202020204" pitchFamily="34" charset="0"/>
              </a:rPr>
              <a:t> desde laboratorios de investigación</a:t>
            </a:r>
            <a:endParaRPr lang="en-US" sz="1350" dirty="0">
              <a:latin typeface="Century Gothic" panose="020B0502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D14D3F9-FAA5-FCDA-1429-79F6F5EDA156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12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MONITOREO Y EVALUACIÓN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Indicadores de seguimiento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1487A"/>
          </a:solidFill>
          <a:ln w="12700">
            <a:solidFill>
              <a:srgbClr val="1E3B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64792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6" name="Image 0" descr="/home/claude/work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019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Personas sensibilizadas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Medición por año.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1487A"/>
          </a:solidFill>
          <a:ln w="12700">
            <a:solidFill>
              <a:srgbClr val="1E3B7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764792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11" name="Image 1" descr="/home/claude/work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019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Proyectos diagnosticados y acompañados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53712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Desagregado por fase.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010144" y="15087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1487A"/>
          </a:solidFill>
          <a:ln w="12700">
            <a:solidFill>
              <a:srgbClr val="1E3B7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38744" y="1764792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16" name="Image 2" descr="/home/claude/work/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019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% de proyectos vigentes a 3 años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38744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Meta PDI: ≥3%.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1487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169664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1" name="Image 3" descr="/home/claude/work/icons/certifica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068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280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Títulos de propiedad intelectual y spin-offs</a:t>
            </a:r>
            <a:endParaRPr lang="en-US" sz="13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68680" y="55138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Resultado de transferencia.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25112" y="3913632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31487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169664"/>
            <a:ext cx="548640" cy="548640"/>
          </a:xfrm>
          <a:prstGeom prst="ellipse">
            <a:avLst/>
          </a:prstGeom>
          <a:solidFill>
            <a:srgbClr val="BE7537"/>
          </a:solidFill>
          <a:ln/>
        </p:spPr>
      </p:sp>
      <p:pic>
        <p:nvPicPr>
          <p:cNvPr id="26" name="Image 4" descr="/home/claude/work/icons/li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3068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280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Facultades con docente enlace activo</a:t>
            </a:r>
            <a:endParaRPr lang="en-US" sz="13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553712" y="551383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Cobertura de la articulación.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68DB637-D20F-4762-8FDF-8B9CA902D2F1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E7537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SOSTENIBILIDAD DEL MODELO</a:t>
            </a:r>
            <a:endParaRPr lang="en-US" sz="1300" dirty="0">
              <a:solidFill>
                <a:srgbClr val="BE753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Articulación con las facultades</a:t>
            </a:r>
            <a:endParaRPr lang="en-US" sz="28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42032" cy="40233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rgbClr val="1E3B7D"/>
          </a:solidFill>
          <a:ln/>
        </p:spPr>
      </p:sp>
      <p:pic>
        <p:nvPicPr>
          <p:cNvPr id="7" name="Image 0" descr="/home/claude/work/icon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48840"/>
            <a:ext cx="411480" cy="411480"/>
          </a:xfrm>
          <a:prstGeom prst="rect">
            <a:avLst/>
          </a:prstGeom>
          <a:solidFill>
            <a:srgbClr val="31487A"/>
          </a:solidFill>
        </p:spPr>
      </p:pic>
      <p:sp>
        <p:nvSpPr>
          <p:cNvPr id="8" name="Text 5"/>
          <p:cNvSpPr/>
          <p:nvPr/>
        </p:nvSpPr>
        <p:spPr>
          <a:xfrm>
            <a:off x="868680" y="29260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Docente enlace por facultad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20848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Con reuniones periódicas de coordinación.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10712" y="1600200"/>
            <a:ext cx="2542032" cy="40233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60020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12" name="Shape 9"/>
          <p:cNvSpPr/>
          <p:nvPr/>
        </p:nvSpPr>
        <p:spPr>
          <a:xfrm>
            <a:off x="3730752" y="196596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3" name="Image 1" descr="/home/claude/work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1488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9260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Integración curricular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639312" y="3611880"/>
            <a:ext cx="20848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Del emprendimiento en las asignaturas.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81344" y="1600200"/>
            <a:ext cx="2542032" cy="40233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160020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18" name="Shape 14"/>
          <p:cNvSpPr/>
          <p:nvPr/>
        </p:nvSpPr>
        <p:spPr>
          <a:xfrm>
            <a:off x="6501384" y="196596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19" name="Image 2" descr="/home/claude/work/icons/puzz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1488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9944" y="29260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Retos interdisciplinarios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09944" y="3611880"/>
            <a:ext cx="20848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Entre facultades para fortalecer los proyectos.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951976" y="1600200"/>
            <a:ext cx="2542032" cy="40233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5875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51976" y="1600200"/>
            <a:ext cx="2542032" cy="82296"/>
          </a:xfrm>
          <a:prstGeom prst="roundRect">
            <a:avLst/>
          </a:prstGeom>
          <a:solidFill>
            <a:srgbClr val="31487A"/>
          </a:solidFill>
          <a:ln/>
        </p:spPr>
      </p:sp>
      <p:sp>
        <p:nvSpPr>
          <p:cNvPr id="24" name="Shape 19"/>
          <p:cNvSpPr/>
          <p:nvPr/>
        </p:nvSpPr>
        <p:spPr>
          <a:xfrm>
            <a:off x="9272016" y="1965960"/>
            <a:ext cx="777240" cy="777240"/>
          </a:xfrm>
          <a:prstGeom prst="ellipse">
            <a:avLst/>
          </a:prstGeom>
          <a:solidFill>
            <a:srgbClr val="31487A"/>
          </a:solidFill>
          <a:ln/>
        </p:spPr>
      </p:sp>
      <p:pic>
        <p:nvPicPr>
          <p:cNvPr id="25" name="Image 3" descr="/home/claude/work/icons/envelop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21488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0576" y="292608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B7D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Difusión segmentada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9180576" y="3611880"/>
            <a:ext cx="20848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Correo institucional y WhatsApp por facultad.</a:t>
            </a:r>
            <a:endParaRPr lang="en-US" sz="1150" dirty="0">
              <a:latin typeface="Century Gothic" panose="020B0502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E12871E-B0D8-197D-309C-6E74ECD1FA72}"/>
              </a:ext>
            </a:extLst>
          </p:cNvPr>
          <p:cNvSpPr txBox="1"/>
          <p:nvPr/>
        </p:nvSpPr>
        <p:spPr>
          <a:xfrm>
            <a:off x="11159049" y="6388668"/>
            <a:ext cx="66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  <a:latin typeface="Century Gothic" panose="020B0502020202020204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E7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24818B-2386-7464-1B09-C6A185293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435" y="2433447"/>
            <a:ext cx="5178623" cy="1991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825</Words>
  <Application>Microsoft Office PowerPoint</Application>
  <PresentationFormat>Panorámica</PresentationFormat>
  <Paragraphs>201</Paragraphs>
  <Slides>15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Helvetica Light</vt:lpstr>
      <vt:lpstr>Montserrat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Kevin Andres Ojeda Figueroa</cp:lastModifiedBy>
  <cp:revision>17</cp:revision>
  <dcterms:created xsi:type="dcterms:W3CDTF">2026-07-15T21:03:32Z</dcterms:created>
  <dcterms:modified xsi:type="dcterms:W3CDTF">2026-07-22T18:56:32Z</dcterms:modified>
</cp:coreProperties>
</file>