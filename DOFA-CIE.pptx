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48" r:id="rId27"/>
    <p:sldId id="649" r:id="rId28"/>
    <p:sldId id="631" r:id="rId7"/>
    <p:sldId id="650" r:id="rId29"/>
    <p:sldId id="651" r:id="rId30"/>
    <p:sldId id="652" r:id="rId31"/>
    <p:sldId id="653" r:id="rId32"/>
    <p:sldId id="654" r:id="rId33"/>
    <p:sldId id="655" r:id="rId34"/>
    <p:sldId id="656" r:id="rId35"/>
    <p:sldId id="657" r:id="rId36"/>
    <p:sldId id="658" r:id="rId37"/>
    <p:sldId id="659" r:id="rId38"/>
    <p:sldId id="660" r:id="rId39"/>
    <p:sldId id="661" r:id="rId40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76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ANÁLISIS DOFA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38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Diagnóstico estratégico del CIE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2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Centro de Innovación y Emprendimiento (CIE) — Universidad del Atlántico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Debilidades · Oportunidades · Fortalezas · Amenazas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Con estrategias cruzadas (FO · DO · FA · DA)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56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87,7% quiere emprender · 67% no conoce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400" dirty="0">
                <a:solidFill>
                  <a:schemeClr val="tx1"/>
                </a:solidFill>
                <a:latin typeface="Century Gothic" panose="020B0502020202020204" pitchFamily="34" charset="0"/>
              </a:rPr>
              <a:t>El DOFA revela el reto central: un alto interés emprendedor desaprovechado por la baja visibilidad del Centro. Esta es la base para diseñar la ruta.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Contenido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¿Qué es el análisis DOFA y cómo se construyó?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Matriz DOFA del CIE.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Fortalezas y debilidades (factores internos).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Oportunidades y amenazas (factores externos).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Estrategias cruzadas: FO, DO, FA y DA.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Conclusiones del diagnóstico.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¿Qué es el análisis DOFA?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Herramienta de diagnóstico estratégico de una organización.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Examina factores internos: Fortalezas y Debilidades.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Y factores externos del entorno: Oportunidades y Amenazas.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Fuentes: encuestas (106 estudiantes y 10 docentes), consultas, benchmarking y el PDI 2022-2031.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Su cruce permite formular estrategias de acción.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Matriz DOFA del CIE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dofa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925" y="3657600"/>
            <a:ext cx="10621197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Fortalezas (F)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2E7D32"/>
                </a:solidFill>
                <a:latin typeface="Century Gothic"/>
              </a:rPr>
              <a:t>F1. </a:t>
            </a:r>
            <a:r>
              <a:rPr sz="3000">
                <a:solidFill>
                  <a:srgbClr val="404040"/>
                </a:solidFill>
                <a:latin typeface="Century Gothic"/>
              </a:rPr>
              <a:t>Talento humano y experiencia del equipo del CIE.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2E7D32"/>
                </a:solidFill>
                <a:latin typeface="Century Gothic"/>
              </a:rPr>
              <a:t>F2. </a:t>
            </a:r>
            <a:r>
              <a:rPr sz="3000">
                <a:solidFill>
                  <a:srgbClr val="404040"/>
                </a:solidFill>
                <a:latin typeface="Century Gothic"/>
              </a:rPr>
              <a:t>Cercanía y confianza con los estudiantes.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2E7D32"/>
                </a:solidFill>
                <a:latin typeface="Century Gothic"/>
              </a:rPr>
              <a:t>F3. </a:t>
            </a:r>
            <a:r>
              <a:rPr sz="3000">
                <a:solidFill>
                  <a:srgbClr val="404040"/>
                </a:solidFill>
                <a:latin typeface="Century Gothic"/>
              </a:rPr>
              <a:t>Alto interés emprendedor en la comunidad (87,7%).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2E7D32"/>
                </a:solidFill>
                <a:latin typeface="Century Gothic"/>
              </a:rPr>
              <a:t>F4. </a:t>
            </a:r>
            <a:r>
              <a:rPr sz="3000">
                <a:solidFill>
                  <a:srgbClr val="404040"/>
                </a:solidFill>
                <a:latin typeface="Century Gothic"/>
              </a:rPr>
              <a:t>Respaldo institucional del PDI 2022-2031.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Debilidades (D)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B03A2E"/>
                </a:solidFill>
                <a:latin typeface="Century Gothic"/>
              </a:rPr>
              <a:t>D1. </a:t>
            </a:r>
            <a:r>
              <a:rPr sz="3000">
                <a:solidFill>
                  <a:srgbClr val="404040"/>
                </a:solidFill>
                <a:latin typeface="Century Gothic"/>
              </a:rPr>
              <a:t>Baja visibilidad: 67% conoce poco o nada el CIE.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B03A2E"/>
                </a:solidFill>
                <a:latin typeface="Century Gothic"/>
              </a:rPr>
              <a:t>D2. </a:t>
            </a:r>
            <a:r>
              <a:rPr sz="3000">
                <a:solidFill>
                  <a:srgbClr val="404040"/>
                </a:solidFill>
                <a:latin typeface="Century Gothic"/>
              </a:rPr>
              <a:t>Ausencia de una ruta estructurada de acompañamiento.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B03A2E"/>
                </a:solidFill>
                <a:latin typeface="Century Gothic"/>
              </a:rPr>
              <a:t>D3. </a:t>
            </a:r>
            <a:r>
              <a:rPr sz="3000">
                <a:solidFill>
                  <a:srgbClr val="404040"/>
                </a:solidFill>
                <a:latin typeface="Century Gothic"/>
              </a:rPr>
              <a:t>Articulación débil con las facultades (60%).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B03A2E"/>
                </a:solidFill>
                <a:latin typeface="Century Gothic"/>
              </a:rPr>
              <a:t>D4. </a:t>
            </a:r>
            <a:r>
              <a:rPr sz="3000">
                <a:solidFill>
                  <a:srgbClr val="404040"/>
                </a:solidFill>
                <a:latin typeface="Century Gothic"/>
              </a:rPr>
              <a:t>Poca integración curricular del emprendimiento (3,30/5).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Oportunidades (O)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1E3B7D"/>
                </a:solidFill>
                <a:latin typeface="Century Gothic"/>
              </a:rPr>
              <a:t>O1. </a:t>
            </a:r>
            <a:r>
              <a:rPr sz="3000">
                <a:solidFill>
                  <a:srgbClr val="404040"/>
                </a:solidFill>
                <a:latin typeface="Century Gothic"/>
              </a:rPr>
              <a:t>Mandato explícito del PDI y política institucional.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1E3B7D"/>
                </a:solidFill>
                <a:latin typeface="Century Gothic"/>
              </a:rPr>
              <a:t>O2. </a:t>
            </a:r>
            <a:r>
              <a:rPr sz="3000">
                <a:solidFill>
                  <a:srgbClr val="404040"/>
                </a:solidFill>
                <a:latin typeface="Century Gothic"/>
              </a:rPr>
              <a:t>Ecosistema regional (Cientech, Ruta N, Cámaras de Comercio).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1E3B7D"/>
                </a:solidFill>
                <a:latin typeface="Century Gothic"/>
              </a:rPr>
              <a:t>O3. </a:t>
            </a:r>
            <a:r>
              <a:rPr sz="3000">
                <a:solidFill>
                  <a:srgbClr val="404040"/>
                </a:solidFill>
                <a:latin typeface="Century Gothic"/>
              </a:rPr>
              <a:t>Metodologías y rutas probadas por referentes.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1E3B7D"/>
                </a:solidFill>
                <a:latin typeface="Century Gothic"/>
              </a:rPr>
              <a:t>O4. </a:t>
            </a:r>
            <a:r>
              <a:rPr sz="3000">
                <a:solidFill>
                  <a:srgbClr val="404040"/>
                </a:solidFill>
                <a:latin typeface="Century Gothic"/>
              </a:rPr>
              <a:t>Marco normativo nacional (Ley 1014/2006; Política Nacional).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Amenazas (A)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E47331"/>
                </a:solidFill>
                <a:latin typeface="Century Gothic"/>
              </a:rPr>
              <a:t>A1. </a:t>
            </a:r>
            <a:r>
              <a:rPr sz="3000">
                <a:solidFill>
                  <a:srgbClr val="404040"/>
                </a:solidFill>
                <a:latin typeface="Century Gothic"/>
              </a:rPr>
              <a:t>Otras IES con rutas de emprendimiento consolidadas.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E47331"/>
                </a:solidFill>
                <a:latin typeface="Century Gothic"/>
              </a:rPr>
              <a:t>A2. </a:t>
            </a:r>
            <a:r>
              <a:rPr sz="3000">
                <a:solidFill>
                  <a:srgbClr val="404040"/>
                </a:solidFill>
                <a:latin typeface="Century Gothic"/>
              </a:rPr>
              <a:t>Limitación de recursos y continuidad de los procesos.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E47331"/>
                </a:solidFill>
                <a:latin typeface="Century Gothic"/>
              </a:rPr>
              <a:t>A3. </a:t>
            </a:r>
            <a:r>
              <a:rPr sz="3000">
                <a:solidFill>
                  <a:srgbClr val="404040"/>
                </a:solidFill>
                <a:latin typeface="Century Gothic"/>
              </a:rPr>
              <a:t>Barreras de financiación y de tiempo del estudiante.</a:t>
            </a:r>
          </a:p>
          <a:p>
            <a:pPr algn="l" hangingPunct="1">
              <a:spcAft>
                <a:spcPts val="1200"/>
              </a:spcAft>
            </a:pPr>
            <a:r>
              <a:rPr b="1" sz="3000">
                <a:solidFill>
                  <a:srgbClr val="E47331"/>
                </a:solidFill>
                <a:latin typeface="Century Gothic"/>
              </a:rPr>
              <a:t>A4. </a:t>
            </a:r>
            <a:r>
              <a:rPr sz="3000">
                <a:solidFill>
                  <a:srgbClr val="404040"/>
                </a:solidFill>
                <a:latin typeface="Century Gothic"/>
              </a:rPr>
              <a:t>Riesgo de baja participación sostenida.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0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Estrategias cruzadas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000" dirty="0">
                <a:solidFill>
                  <a:schemeClr val="tx1"/>
                </a:solidFill>
                <a:latin typeface="Century Gothic" panose="020B0502020202020204" pitchFamily="34" charset="0"/>
              </a:rPr>
              <a:t>Del diagnóstico a la acción: FO · DO · FA · DA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Estrategias cruzadas (FO·DO·FA·DA)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dofa_estrate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580" y="3657600"/>
            <a:ext cx="11093887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Estrategias FO — Ofensivas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Usar las fortalezas para aprovechar las oportunidades.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Lanzar la ruta con el aval del PDI y el alto interés estudiantil.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Tejer alianzas con el ecosistema regional desde el talento del CIE.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Adaptar metodologías probadas (Canvas, Lean Startup, design thinking).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Estrategias DO — Reorientación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Superar las debilidades aprovechando las oportunidades.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amparada en el PDI para elevar la visibilidad del CIE.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para fortalecer la articulación.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Estructurar la ruta a partir del benchmarking de referentes.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Estrategias FA — Defensivas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Usar las fortalezas para enfrentar las amenazas.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Diferenciar la oferta por la cercanía con el estudiante.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Apalancar el respaldo del PDI para asegurar recursos.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Aprovechar el interés para sostener la participación.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Estrategias DA — Supervivencia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Reducir las debilidades y evitar las amenazas.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Priorizar fases de bajo costo (sensibilización y formación).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Derivar la financiación a aliados externos del ecosistema.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progresiva del emprendimiento.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Conclusiones del DOFA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El mayor activo (interés del 87,7%) convive con la mayor debilidad (baja visibilidad).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El problema no es la motivación, sino la falta de una ruta clara y visible.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 estrategia: aprovechar el PDI y el interés para lanzar y difundir la ruta.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Empezar por fases de bajo costo con apoyo del ecosistema asegura sostenibilidad.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