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20"/>
  </p:notesMasterIdLst>
  <p:handoutMasterIdLst>
    <p:handoutMasterId r:id="rId21"/>
  </p:handoutMasterIdLst>
  <p:sldIdLst>
    <p:sldId id="626" r:id="rId2"/>
    <p:sldId id="648" r:id="rId27"/>
    <p:sldId id="631" r:id="rId7"/>
    <p:sldId id="649" r:id="rId28"/>
    <p:sldId id="650" r:id="rId29"/>
    <p:sldId id="651" r:id="rId30"/>
    <p:sldId id="652" r:id="rId31"/>
    <p:sldId id="653" r:id="rId32"/>
    <p:sldId id="654" r:id="rId33"/>
    <p:sldId id="655" r:id="rId34"/>
    <p:sldId id="656" r:id="rId35"/>
    <p:sldId id="657" r:id="rId36"/>
    <p:sldId id="658" r:id="rId37"/>
    <p:sldId id="659" r:id="rId38"/>
    <p:sldId id="580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1pPr>
    <a:lvl2pPr marL="0" marR="0" indent="2286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2pPr>
    <a:lvl3pPr marL="0" marR="0" indent="4572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3pPr>
    <a:lvl4pPr marL="0" marR="0" indent="6858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4pPr>
    <a:lvl5pPr marL="0" marR="0" indent="9144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5pPr>
    <a:lvl6pPr marL="0" marR="0" indent="11430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6pPr>
    <a:lvl7pPr marL="0" marR="0" indent="13716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7pPr>
    <a:lvl8pPr marL="0" marR="0" indent="16002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8pPr>
    <a:lvl9pPr marL="0" marR="0" indent="18288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F50"/>
    <a:srgbClr val="1E3B7D"/>
    <a:srgbClr val="FC6B00"/>
    <a:srgbClr val="D07137"/>
    <a:srgbClr val="092561"/>
    <a:srgbClr val="034EA1"/>
    <a:srgbClr val="2C4477"/>
    <a:srgbClr val="F26F21"/>
    <a:srgbClr val="E6914A"/>
    <a:srgbClr val="0F3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F0D90-BD82-4996-AB92-AD7498308437}" v="18" dt="2022-03-02T14:42:14.16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27" autoAdjust="0"/>
    <p:restoredTop sz="92909" autoAdjust="0"/>
  </p:normalViewPr>
  <p:slideViewPr>
    <p:cSldViewPr snapToGrid="0" snapToObjects="1" showGuides="1">
      <p:cViewPr varScale="1">
        <p:scale>
          <a:sx n="56" d="100"/>
          <a:sy n="56" d="100"/>
        </p:scale>
        <p:origin x="990" y="120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8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59CEE-C3B7-43F6-BAD7-6BAD3658ADF7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77C68-7D69-46F3-9F26-63FA77175F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11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778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DEB18EB-F665-4B41-95C0-716CC0FF13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69" y="1360151"/>
            <a:ext cx="3297658" cy="544505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0266" y="10977291"/>
            <a:ext cx="3352800" cy="2318223"/>
          </a:xfrm>
          <a:prstGeom prst="rect">
            <a:avLst/>
          </a:prstGeom>
        </p:spPr>
      </p:pic>
      <p:pic>
        <p:nvPicPr>
          <p:cNvPr id="13" name="Imagen 12" descr="Texto&#10;&#10;Descripción generada automáticamente">
            <a:extLst>
              <a:ext uri="{FF2B5EF4-FFF2-40B4-BE49-F238E27FC236}">
                <a16:creationId xmlns:a16="http://schemas.microsoft.com/office/drawing/2014/main" id="{6F529E33-1AAC-AA2A-1AC2-F29E41E537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49" y="11117711"/>
            <a:ext cx="7459751" cy="2039489"/>
          </a:xfrm>
          <a:prstGeom prst="rect">
            <a:avLst/>
          </a:prstGeom>
        </p:spPr>
      </p:pic>
      <p:pic>
        <p:nvPicPr>
          <p:cNvPr id="8" name="Imagen 7" descr="Imagen borrosa de un edificio&#10;&#10;Descripción generada automáticamente con confianza media">
            <a:extLst>
              <a:ext uri="{FF2B5EF4-FFF2-40B4-BE49-F238E27FC236}">
                <a16:creationId xmlns:a16="http://schemas.microsoft.com/office/drawing/2014/main" id="{BD8571E4-942B-6137-79F1-64C2108A3C9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939"/>
            <a:ext cx="24402598" cy="982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4059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ás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just" defTabSz="8255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2400" b="0" i="0" u="none" strike="noStrike" kern="0" cap="none" spc="0" normalizeH="0" baseline="0" noProof="0" dirty="0">
              <a:ln>
                <a:noFill/>
              </a:ln>
              <a:solidFill>
                <a:srgbClr val="868A8D"/>
              </a:solidFill>
              <a:effectLst/>
              <a:uLnTx/>
              <a:uFillTx/>
              <a:latin typeface="Montserrat Light"/>
              <a:sym typeface="Montserrat Light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endParaRPr lang="es-CO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6378" y="0"/>
            <a:ext cx="1407622" cy="17738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D52757-FAC3-88B5-9426-562D11867B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11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o con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54829" cy="13716000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6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B8212BA-7EAC-78E5-99DD-A5F4DD5488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5589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o títulos destac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Descripción generada automáticamente">
            <a:extLst>
              <a:ext uri="{FF2B5EF4-FFF2-40B4-BE49-F238E27FC236}">
                <a16:creationId xmlns:a16="http://schemas.microsoft.com/office/drawing/2014/main" id="{6BE1F532-0428-3B57-30B7-73906B338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6" y="-22634"/>
            <a:ext cx="24343894" cy="1373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4351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o inter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5"/>
          <p:cNvSpPr txBox="1">
            <a:spLocks/>
          </p:cNvSpPr>
          <p:nvPr userDrawn="1"/>
        </p:nvSpPr>
        <p:spPr>
          <a:xfrm>
            <a:off x="23036465" y="762695"/>
            <a:ext cx="607907" cy="252890"/>
          </a:xfrm>
          <a:prstGeom prst="rect">
            <a:avLst/>
          </a:prstGeom>
          <a:ln w="3175">
            <a:miter lim="400000"/>
          </a:ln>
        </p:spPr>
        <p:txBody>
          <a:bodyPr lIns="38100" tIns="38100" rIns="38100" bIns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all" spc="0" normalizeH="0" baseline="50000">
                <a:ln>
                  <a:noFill/>
                </a:ln>
                <a:solidFill>
                  <a:srgbClr val="F4F5F7"/>
                </a:solidFill>
                <a:effectLst/>
                <a:uFillTx/>
                <a:latin typeface="Montserrat-Regular"/>
                <a:ea typeface="Montserrat-Regular"/>
                <a:cs typeface="Montserrat-Regular"/>
                <a:sym typeface="Montserrat-Regular"/>
              </a:defRPr>
            </a:lvl1pPr>
            <a:lvl2pPr marL="0" marR="0" indent="2286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marR="0" lvl="0" indent="0" algn="ctr" defTabSz="8255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2400" b="0" i="0" u="none" strike="noStrike" kern="0" cap="all" spc="0" normalizeH="0" baseline="5000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sym typeface="Montserrat-Regular"/>
              </a:rPr>
              <a:pPr marL="0" marR="0" lvl="0" indent="0" algn="ctr" defTabSz="825500" rtl="0" eaLnBrk="1" fontAlgn="auto" latin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2400" b="0" i="0" u="none" strike="noStrike" kern="0" cap="all" spc="0" normalizeH="0" baseline="5000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sym typeface="Montserrat-Regular"/>
            </a:endParaRPr>
          </a:p>
        </p:txBody>
      </p:sp>
      <p:sp>
        <p:nvSpPr>
          <p:cNvPr id="5" name="Rectangle 3"/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3FA1FA8-4232-588F-92D2-03596EA6B7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2386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83473" y="2391065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432748" y="2452977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3182023" y="2452977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931297" y="2452977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683473" y="7108538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432748" y="7170450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3182023" y="7170450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8931297" y="7170450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683473" y="1116490"/>
            <a:ext cx="21403901" cy="919740"/>
          </a:xfrm>
          <a:prstGeom prst="rect">
            <a:avLst/>
          </a:prstGeom>
        </p:spPr>
        <p:txBody>
          <a:bodyPr/>
          <a:lstStyle>
            <a:lvl1pPr algn="ctr">
              <a:defRPr sz="4000" b="1" i="0" kern="0" spc="-50" baseline="0">
                <a:solidFill>
                  <a:srgbClr val="09256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1683474" y="1649111"/>
            <a:ext cx="21403898" cy="7215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21" name="Imagen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3937770-2847-36C2-1825-E407BE59A6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2357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ón de image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2015217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7442759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12870301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8302708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BF1F564-7A74-415D-B5E5-6E4462297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473" y="1116490"/>
            <a:ext cx="21403901" cy="919740"/>
          </a:xfrm>
          <a:prstGeom prst="rect">
            <a:avLst/>
          </a:prstGeom>
        </p:spPr>
        <p:txBody>
          <a:bodyPr/>
          <a:lstStyle>
            <a:lvl1pPr algn="ctr">
              <a:defRPr sz="4000" b="1" i="0" kern="0" spc="-50" baseline="0">
                <a:solidFill>
                  <a:srgbClr val="09256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A7EE0FA-7B4E-4596-858E-38478E3346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3474" y="1649111"/>
            <a:ext cx="21403898" cy="7215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21" name="Imagen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3E88072-0E7F-1744-60A8-2E5EDB3BE8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0779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498898" y="1760736"/>
            <a:ext cx="7996416" cy="583772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5594207" y="8083844"/>
            <a:ext cx="4912187" cy="414713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9348191" y="8083845"/>
            <a:ext cx="4912187" cy="4147129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498898" y="8083845"/>
            <a:ext cx="4912187" cy="4147129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12148457" y="1760736"/>
            <a:ext cx="8357937" cy="583772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4483BD7-0CC1-CB58-98A2-B4D7609A12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8345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A6AD9EC-29ED-40B4-A66D-A626F8068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473" y="1116490"/>
            <a:ext cx="21403901" cy="919740"/>
          </a:xfrm>
          <a:prstGeom prst="rect">
            <a:avLst/>
          </a:prstGeom>
        </p:spPr>
        <p:txBody>
          <a:bodyPr/>
          <a:lstStyle>
            <a:lvl1pPr algn="ctr">
              <a:defRPr sz="4000" b="1" i="0" kern="0" spc="-50" baseline="0">
                <a:solidFill>
                  <a:srgbClr val="09256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8605F10-6009-4575-9BCC-AB83630BD9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3474" y="1649111"/>
            <a:ext cx="21403898" cy="7215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B265F6F-716F-5BCD-C4C8-8FBBA01096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7299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Rectángulo&#10;&#10;Descripción generada automáticamente">
            <a:extLst>
              <a:ext uri="{FF2B5EF4-FFF2-40B4-BE49-F238E27FC236}">
                <a16:creationId xmlns:a16="http://schemas.microsoft.com/office/drawing/2014/main" id="{84AD33C5-4EFC-0DE5-0B08-08F6CC8D6F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84" y="0"/>
            <a:ext cx="24303788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5862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/>
          <p:cNvSpPr/>
          <p:nvPr userDrawn="1"/>
        </p:nvSpPr>
        <p:spPr>
          <a:xfrm>
            <a:off x="11691257" y="0"/>
            <a:ext cx="12845143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2148457" y="4592779"/>
            <a:ext cx="10642631" cy="919740"/>
          </a:xfrm>
          <a:prstGeom prst="rect">
            <a:avLst/>
          </a:prstGeom>
        </p:spPr>
        <p:txBody>
          <a:bodyPr/>
          <a:lstStyle>
            <a:lvl1pPr algn="l">
              <a:defRPr sz="4000" b="1" i="0" kern="0" spc="-50" baseline="0">
                <a:solidFill>
                  <a:srgbClr val="09256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48457" y="5713227"/>
            <a:ext cx="10642628" cy="19297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4" name="Imagen 3" descr="Forma, Rectángulo&#10;&#10;Descripción generada automáticamente">
            <a:extLst>
              <a:ext uri="{FF2B5EF4-FFF2-40B4-BE49-F238E27FC236}">
                <a16:creationId xmlns:a16="http://schemas.microsoft.com/office/drawing/2014/main" id="{BE843E31-BDFA-AFAE-3445-2C8F64F7BA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759"/>
            <a:ext cx="10391115" cy="14050759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AEFCFBEF-5EBA-8E94-956C-4005E0145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3336" y="12016654"/>
            <a:ext cx="5387326" cy="147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86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/>
          <p:cNvSpPr/>
          <p:nvPr userDrawn="1"/>
        </p:nvSpPr>
        <p:spPr>
          <a:xfrm>
            <a:off x="11508378" y="0"/>
            <a:ext cx="12845143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48457" y="5713227"/>
            <a:ext cx="9797143" cy="19297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0879CB9-47C0-5201-A1BF-F44EAAF2FC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75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l PROHIBIDO MODIFIC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s-ES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4CFE743-0DB2-8579-CD49-CB992B99C4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7498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zul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4" name="Imagen 3" descr="Rectángulo&#10;&#10;Descripción generada automáticamente con confianza media">
            <a:extLst>
              <a:ext uri="{FF2B5EF4-FFF2-40B4-BE49-F238E27FC236}">
                <a16:creationId xmlns:a16="http://schemas.microsoft.com/office/drawing/2014/main" id="{08783CB0-B1AC-A449-8724-2F51BE4BF1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0" y="-73938"/>
            <a:ext cx="24434800" cy="137899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CA8BE37-A72D-7D17-D69E-9D9E0E912A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852" y="4714943"/>
            <a:ext cx="8474481" cy="32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1702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zul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BAF3902-1097-D618-BB5D-660C6BE75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6126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852" y="4714943"/>
            <a:ext cx="8474481" cy="32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2519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1"/>
          <p:cNvSpPr txBox="1">
            <a:spLocks/>
          </p:cNvSpPr>
          <p:nvPr userDrawn="1"/>
        </p:nvSpPr>
        <p:spPr>
          <a:xfrm>
            <a:off x="12200710" y="-3"/>
            <a:ext cx="12197500" cy="13722187"/>
          </a:xfrm>
          <a:custGeom>
            <a:avLst/>
            <a:gdLst>
              <a:gd name="connsiteX0" fmla="*/ 429097 w 6767513"/>
              <a:gd name="connsiteY0" fmla="*/ 0 h 7312515"/>
              <a:gd name="connsiteX1" fmla="*/ 6767513 w 6767513"/>
              <a:gd name="connsiteY1" fmla="*/ 0 h 7312515"/>
              <a:gd name="connsiteX2" fmla="*/ 6767513 w 6767513"/>
              <a:gd name="connsiteY2" fmla="*/ 7312515 h 7312515"/>
              <a:gd name="connsiteX3" fmla="*/ 2634858 w 6767513"/>
              <a:gd name="connsiteY3" fmla="*/ 7312515 h 7312515"/>
              <a:gd name="connsiteX4" fmla="*/ 2444316 w 6767513"/>
              <a:gd name="connsiteY4" fmla="*/ 7175959 h 7312515"/>
              <a:gd name="connsiteX5" fmla="*/ 0 w 6767513"/>
              <a:gd name="connsiteY5" fmla="*/ 2261607 h 7312515"/>
              <a:gd name="connsiteX6" fmla="*/ 369247 w 6767513"/>
              <a:gd name="connsiteY6" fmla="*/ 152978 h 731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7513" h="7312515">
                <a:moveTo>
                  <a:pt x="429097" y="0"/>
                </a:moveTo>
                <a:lnTo>
                  <a:pt x="6767513" y="0"/>
                </a:lnTo>
                <a:lnTo>
                  <a:pt x="6767513" y="7312515"/>
                </a:lnTo>
                <a:lnTo>
                  <a:pt x="2634858" y="7312515"/>
                </a:lnTo>
                <a:lnTo>
                  <a:pt x="2444316" y="7175959"/>
                </a:lnTo>
                <a:cubicBezTo>
                  <a:pt x="960466" y="6057587"/>
                  <a:pt x="0" y="4272637"/>
                  <a:pt x="0" y="2261607"/>
                </a:cubicBezTo>
                <a:cubicBezTo>
                  <a:pt x="0" y="1520701"/>
                  <a:pt x="130368" y="810482"/>
                  <a:pt x="369247" y="152978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marR="0" lvl="0" indent="0" algn="just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868A8D"/>
                </a:solidFill>
                <a:effectLst/>
                <a:uLnTx/>
                <a:uFillTx/>
                <a:latin typeface="Montserrat Light"/>
                <a:sym typeface="Montserrat Light"/>
              </a:rPr>
              <a:t>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68A8D"/>
              </a:solidFill>
              <a:effectLst/>
              <a:uLnTx/>
              <a:uFillTx/>
              <a:latin typeface="Montserrat Light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369473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15" r:id="rId2"/>
    <p:sldLayoutId id="2147483756" r:id="rId3"/>
    <p:sldLayoutId id="2147483758" r:id="rId4"/>
    <p:sldLayoutId id="2147483757" r:id="rId5"/>
    <p:sldLayoutId id="2147483705" r:id="rId6"/>
    <p:sldLayoutId id="2147483706" r:id="rId7"/>
    <p:sldLayoutId id="2147483707" r:id="rId8"/>
    <p:sldLayoutId id="2147483708" r:id="rId9"/>
    <p:sldLayoutId id="2147483713" r:id="rId10"/>
    <p:sldLayoutId id="2147483753" r:id="rId11"/>
    <p:sldLayoutId id="2147483755" r:id="rId12"/>
    <p:sldLayoutId id="2147483754" r:id="rId13"/>
    <p:sldLayoutId id="2147483759" r:id="rId14"/>
    <p:sldLayoutId id="2147483760" r:id="rId15"/>
  </p:sldLayoutIdLst>
  <p:transition spd="med"/>
  <p:txStyles>
    <p:titleStyle>
      <a:lvl1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1pPr>
      <a:lvl2pPr marL="0" marR="0" indent="2286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2pPr>
      <a:lvl3pPr marL="0" marR="0" indent="4572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3pPr>
      <a:lvl4pPr marL="0" marR="0" indent="6858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4pPr>
      <a:lvl5pPr marL="0" marR="0" indent="9144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5pPr>
      <a:lvl6pPr marL="0" marR="0" indent="11430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6pPr>
      <a:lvl7pPr marL="0" marR="0" indent="13716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7pPr>
      <a:lvl8pPr marL="0" marR="0" indent="16002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8pPr>
      <a:lvl9pPr marL="0" marR="0" indent="18288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9pPr>
    </p:titleStyle>
    <p:bodyStyle>
      <a:lvl1pPr marL="0" marR="0" indent="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1pPr>
      <a:lvl2pPr marL="0" marR="0" indent="2286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2pPr>
      <a:lvl3pPr marL="0" marR="0" indent="4572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3pPr>
      <a:lvl4pPr marL="0" marR="0" indent="6858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4pPr>
      <a:lvl5pPr marL="0" marR="0" indent="9144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5pPr>
      <a:lvl6pPr marL="0" marR="0" indent="11430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6pPr>
      <a:lvl7pPr marL="0" marR="0" indent="13716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7pPr>
      <a:lvl8pPr marL="0" marR="0" indent="16002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8pPr>
      <a:lvl9pPr marL="0" marR="0" indent="18288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9pPr>
    </p:bodyStyle>
    <p:otherStyle>
      <a:lvl1pPr marL="0" marR="0" indent="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1pPr>
      <a:lvl2pPr marL="0" marR="0" indent="2286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2pPr>
      <a:lvl3pPr marL="0" marR="0" indent="4572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3pPr>
      <a:lvl4pPr marL="0" marR="0" indent="6858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4pPr>
      <a:lvl5pPr marL="0" marR="0" indent="9144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5pPr>
      <a:lvl6pPr marL="0" marR="0" indent="11430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6pPr>
      <a:lvl7pPr marL="0" marR="0" indent="13716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7pPr>
      <a:lvl8pPr marL="0" marR="0" indent="16002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8pPr>
      <a:lvl9pPr marL="0" marR="0" indent="18288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4">
            <a:extLst>
              <a:ext uri="{FF2B5EF4-FFF2-40B4-BE49-F238E27FC236}">
                <a16:creationId xmlns:a16="http://schemas.microsoft.com/office/drawing/2014/main" id="{0F9FF011-E557-0242-A16D-8546393C0B61}"/>
              </a:ext>
            </a:extLst>
          </p:cNvPr>
          <p:cNvGrpSpPr/>
          <p:nvPr/>
        </p:nvGrpSpPr>
        <p:grpSpPr>
          <a:xfrm>
            <a:off x="2697088" y="4402277"/>
            <a:ext cx="7608173" cy="1845698"/>
            <a:chOff x="6263163" y="3823614"/>
            <a:chExt cx="7608173" cy="1845698"/>
          </a:xfrm>
        </p:grpSpPr>
        <p:sp>
          <p:nvSpPr>
            <p:cNvPr id="10" name="TextBox 8"/>
            <p:cNvSpPr txBox="1"/>
            <p:nvPr/>
          </p:nvSpPr>
          <p:spPr>
            <a:xfrm>
              <a:off x="6263163" y="4245396"/>
              <a:ext cx="7608173" cy="142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 hangingPunct="1"/>
              <a:r>
                <a:rPr lang="es-CO" sz="5600" b="1" dirty="0">
                  <a:solidFill>
                    <a:schemeClr val="tx1"/>
                  </a:solidFill>
                  <a:latin typeface="Century Gothic" panose="020B0502020202020204" pitchFamily="34" charset="0"/>
                  <a:cs typeface="Mongolian Baiti" panose="03000500000000000000" pitchFamily="66" charset="0"/>
                </a:rPr>
                <a:t>ESTRATEGIAS DE ARTICULACIÓN</a:t>
              </a:r>
            </a:p>
          </p:txBody>
        </p:sp>
        <p:sp>
          <p:nvSpPr>
            <p:cNvPr id="11" name="TextBox 21">
              <a:extLst>
                <a:ext uri="{FF2B5EF4-FFF2-40B4-BE49-F238E27FC236}">
                  <a16:creationId xmlns:a16="http://schemas.microsoft.com/office/drawing/2014/main" id="{9909CB0A-8073-CF41-B4A5-10EE6A4C7A93}"/>
                </a:ext>
              </a:extLst>
            </p:cNvPr>
            <p:cNvSpPr txBox="1"/>
            <p:nvPr/>
          </p:nvSpPr>
          <p:spPr>
            <a:xfrm>
              <a:off x="6263163" y="3823614"/>
              <a:ext cx="1585690" cy="843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hangingPunct="1"/>
              <a:r>
                <a:rPr lang="es-CO" sz="3800" dirty="0">
                  <a:solidFill>
                    <a:schemeClr val="tx1"/>
                  </a:solidFill>
                  <a:latin typeface="Century Gothic" charset="0"/>
                  <a:ea typeface="Century Gothic" charset="0"/>
                  <a:cs typeface="Century Gothic" charset="0"/>
                </a:rPr>
                <a:t>El CIE y las facultades</a:t>
              </a: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2936938" y="6177225"/>
            <a:ext cx="11141803" cy="229293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3200" b="1" dirty="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Centro de Innovación y Emprendimiento (CIE) — Universidad del Atlántico</a:t>
            </a:r>
          </a:p>
          <a:p>
            <a:pPr algn="l">
              <a:lnSpc>
                <a:spcPct val="100000"/>
              </a:lnSpc>
            </a:pPr>
            <a:r>
              <a:rPr lang="es-ES" sz="2600" b="1" dirty="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Mecanismos para un emprendimiento transversal</a:t>
            </a:r>
          </a:p>
          <a:p>
            <a:pPr algn="l">
              <a:lnSpc>
                <a:spcPct val="100000"/>
              </a:lnSpc>
            </a:pPr>
            <a:r>
              <a:rPr lang="es-ES" sz="2600" b="1" dirty="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Anexo — Práctica Profesional (Opción de Grado)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4E3766-D207-4F78-9F5A-329C0A98D9AD}"/>
              </a:ext>
            </a:extLst>
          </p:cNvPr>
          <p:cNvSpPr/>
          <p:nvPr/>
        </p:nvSpPr>
        <p:spPr>
          <a:xfrm>
            <a:off x="2473513" y="4565065"/>
            <a:ext cx="55984" cy="2057745"/>
          </a:xfrm>
          <a:prstGeom prst="rect">
            <a:avLst/>
          </a:prstGeom>
          <a:solidFill>
            <a:schemeClr val="accent2"/>
          </a:solidFill>
          <a:ln w="3175" cap="flat">
            <a:noFill/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747297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4;p28"/>
          <p:cNvSpPr txBox="1">
            <a:spLocks/>
          </p:cNvSpPr>
          <p:nvPr/>
        </p:nvSpPr>
        <p:spPr>
          <a:xfrm>
            <a:off x="3731714" y="4777893"/>
            <a:ext cx="16341340" cy="21921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indent="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1pPr>
            <a:lvl2pPr marL="0" marR="0" indent="2286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2pPr>
            <a:lvl3pPr marL="0" marR="0" indent="4572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3pPr>
            <a:lvl4pPr marL="0" marR="0" indent="6858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4pPr>
            <a:lvl5pPr marL="0" marR="0" indent="9144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5pPr>
            <a:lvl6pPr marL="0" marR="0" indent="11430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6pPr>
            <a:lvl7pPr marL="0" marR="0" indent="13716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7pPr>
            <a:lvl8pPr marL="0" marR="0" indent="16002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8pPr>
            <a:lvl9pPr marL="0" marR="0" indent="18288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s-CO" b="1" dirty="0" sz="540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60% de los docentes: la falta de articulación es la dificultad #1</a:t>
            </a:r>
          </a:p>
        </p:txBody>
      </p:sp>
      <p:sp>
        <p:nvSpPr>
          <p:cNvPr id="3" name="Google Shape;235;p28"/>
          <p:cNvSpPr txBox="1">
            <a:spLocks/>
          </p:cNvSpPr>
          <p:nvPr/>
        </p:nvSpPr>
        <p:spPr>
          <a:xfrm>
            <a:off x="3387220" y="7842022"/>
            <a:ext cx="17030329" cy="2267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114300" algn="ctr" hangingPunct="1">
              <a:lnSpc>
                <a:spcPct val="100000"/>
              </a:lnSpc>
            </a:pPr>
            <a:r>
              <a:rPr lang="es-ES" sz="3400" dirty="0">
                <a:solidFill>
                  <a:schemeClr val="tx1"/>
                </a:solidFill>
                <a:latin typeface="Century Gothic" panose="020B0502020202020204" pitchFamily="34" charset="0"/>
              </a:rPr>
              <a:t>El emprendimiento aún no es transversal (integración curricular 3,30/5), pese al alto interés estudiantil (87,7%). Articular es la condición para que la ruta funcione.</a:t>
            </a:r>
          </a:p>
        </p:txBody>
      </p:sp>
    </p:spTree>
    <p:extLst>
      <p:ext uri="{BB962C8B-B14F-4D97-AF65-F5344CB8AC3E}">
        <p14:creationId xmlns:p14="http://schemas.microsoft.com/office/powerpoint/2010/main" val="419142717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8173111" y="1222599"/>
            <a:ext cx="8037778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8556199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Contenido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¿Por qué articular? El diagnóstico.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Modelo de articulación CIE–facultades.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Las seis estrategias de articulación.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Implementación por fases.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Conclusiones.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¿Por qué articular?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Falta de articulación: dificultad #1 según docentes (60%; ítem 3,2/5).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El emprendimiento no es transversal aún (currículo 3,30/5).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Baja visibilidad del CIE: 67% lo conoce poco o nada.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Respaldo docente a la ruta institucional (4,2/5, el ítem más alto).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Modelo de articulación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pic>
        <p:nvPicPr>
          <p:cNvPr id="13" name="Picture 12" descr="articulacion_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3" y="3657600"/>
            <a:ext cx="12193840" cy="7863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Las seis estrategias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pic>
        <p:nvPicPr>
          <p:cNvPr id="13" name="Picture 12" descr="articulacion_estrateg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153" y="3657600"/>
            <a:ext cx="12006742" cy="7863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1. Docente enlace por facultad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¿Qué es? </a:t>
            </a:r>
            <a:r>
              <a:rPr sz="2800">
                <a:solidFill>
                  <a:srgbClr val="404040"/>
                </a:solidFill>
                <a:latin typeface="Century Gothic"/>
              </a:rPr>
              <a:t>Un profesor referente en cada facultad como puente con el CIE.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¿Cómo? </a:t>
            </a:r>
            <a:r>
              <a:rPr sz="2800">
                <a:solidFill>
                  <a:srgbClr val="404040"/>
                </a:solidFill>
                <a:latin typeface="Century Gothic"/>
              </a:rPr>
              <a:t>Designación formal; difunde la ruta, identifica y canaliza proyectos.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Evidencia. </a:t>
            </a:r>
            <a:r>
              <a:rPr sz="2800">
                <a:solidFill>
                  <a:srgbClr val="404040"/>
                </a:solidFill>
                <a:latin typeface="Century Gothic"/>
              </a:rPr>
              <a:t>Docentes piden reuniones con expertos (P8); estrategia DO del DOFA.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2. Integración curricular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2E7D32"/>
                </a:solidFill>
                <a:latin typeface="Century Gothic"/>
              </a:rPr>
              <a:t>¿Qué es? </a:t>
            </a:r>
            <a:r>
              <a:rPr sz="2800">
                <a:solidFill>
                  <a:srgbClr val="404040"/>
                </a:solidFill>
                <a:latin typeface="Century Gothic"/>
              </a:rPr>
              <a:t>Emprendimiento en asignaturas, opciones de grado y semilleros.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2E7D32"/>
                </a:solidFill>
                <a:latin typeface="Century Gothic"/>
              </a:rPr>
              <a:t>¿Cómo? </a:t>
            </a:r>
            <a:r>
              <a:rPr sz="2800">
                <a:solidFill>
                  <a:srgbClr val="404040"/>
                </a:solidFill>
                <a:latin typeface="Century Gothic"/>
              </a:rPr>
              <a:t>Mapeo de asignaturas; cátedra transversal; semilleros vinculados.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2E7D32"/>
                </a:solidFill>
                <a:latin typeface="Century Gothic"/>
              </a:rPr>
              <a:t>Evidencia. </a:t>
            </a:r>
            <a:r>
              <a:rPr sz="2800">
                <a:solidFill>
                  <a:srgbClr val="404040"/>
                </a:solidFill>
                <a:latin typeface="Century Gothic"/>
              </a:rPr>
              <a:t>Estrategia más priorizada por docentes (6/10); transversal 3,8/5.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3. Mesa de articulación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E47331"/>
                </a:solidFill>
                <a:latin typeface="Century Gothic"/>
              </a:rPr>
              <a:t>¿Qué es? </a:t>
            </a:r>
            <a:r>
              <a:rPr sz="2800">
                <a:solidFill>
                  <a:srgbClr val="404040"/>
                </a:solidFill>
                <a:latin typeface="Century Gothic"/>
              </a:rPr>
              <a:t>Instancia de gobernanza CIE–facultades para planear y dar seguimiento.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E47331"/>
                </a:solidFill>
                <a:latin typeface="Century Gothic"/>
              </a:rPr>
              <a:t>¿Cómo? </a:t>
            </a:r>
            <a:r>
              <a:rPr sz="2800">
                <a:solidFill>
                  <a:srgbClr val="404040"/>
                </a:solidFill>
                <a:latin typeface="Century Gothic"/>
              </a:rPr>
              <a:t>Reuniones periódicas con agenda, actas y metas; plan anual.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E47331"/>
                </a:solidFill>
                <a:latin typeface="Century Gothic"/>
              </a:rPr>
              <a:t>Evidencia. </a:t>
            </a:r>
            <a:r>
              <a:rPr sz="2800">
                <a:solidFill>
                  <a:srgbClr val="404040"/>
                </a:solidFill>
                <a:latin typeface="Century Gothic"/>
              </a:rPr>
              <a:t>Docentes piden reuniones proyectadas (P8); respaldo del PDI.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4. Comunicación diferenciada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5B6B8C"/>
                </a:solidFill>
                <a:latin typeface="Century Gothic"/>
              </a:rPr>
              <a:t>¿Qué es? </a:t>
            </a:r>
            <a:r>
              <a:rPr sz="2800">
                <a:solidFill>
                  <a:srgbClr val="404040"/>
                </a:solidFill>
                <a:latin typeface="Century Gothic"/>
              </a:rPr>
              <a:t>Comunicación segmentada para elevar la visibilidad del CIE.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5B6B8C"/>
                </a:solidFill>
                <a:latin typeface="Century Gothic"/>
              </a:rPr>
              <a:t>¿Cómo? </a:t>
            </a:r>
            <a:r>
              <a:rPr sz="2800">
                <a:solidFill>
                  <a:srgbClr val="404040"/>
                </a:solidFill>
                <a:latin typeface="Century Gothic"/>
              </a:rPr>
              <a:t>Correo institucional a docentes; WhatsApp y redes a estudiantes (82%).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5B6B8C"/>
                </a:solidFill>
                <a:latin typeface="Century Gothic"/>
              </a:rPr>
              <a:t>Evidencia. </a:t>
            </a:r>
            <a:r>
              <a:rPr sz="2800">
                <a:solidFill>
                  <a:srgbClr val="404040"/>
                </a:solidFill>
                <a:latin typeface="Century Gothic"/>
              </a:rPr>
              <a:t>Falta de difusión (50% docentes) y 67% conoce poco el CIE.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5. Actividades conjuntas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2E7D32"/>
                </a:solidFill>
                <a:latin typeface="Century Gothic"/>
              </a:rPr>
              <a:t>¿Qué es? </a:t>
            </a:r>
            <a:r>
              <a:rPr sz="2800">
                <a:solidFill>
                  <a:srgbClr val="404040"/>
                </a:solidFill>
                <a:latin typeface="Century Gothic"/>
              </a:rPr>
              <a:t>Ferias, muestras y eventos de emprendimiento co-organizados con cada facultad.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2E7D32"/>
                </a:solidFill>
                <a:latin typeface="Century Gothic"/>
              </a:rPr>
              <a:t>¿Cómo? </a:t>
            </a:r>
            <a:r>
              <a:rPr sz="2800">
                <a:solidFill>
                  <a:srgbClr val="404040"/>
                </a:solidFill>
                <a:latin typeface="Century Gothic"/>
              </a:rPr>
              <a:t>Calendario anual; actividades según el perfil de cada facultad.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2E7D32"/>
                </a:solidFill>
                <a:latin typeface="Century Gothic"/>
              </a:rPr>
              <a:t>Evidencia. </a:t>
            </a:r>
            <a:r>
              <a:rPr sz="2800">
                <a:solidFill>
                  <a:srgbClr val="404040"/>
                </a:solidFill>
                <a:latin typeface="Century Gothic"/>
              </a:rPr>
              <a:t>Ferias priorizadas por 5/10 docentes; aprovechan el interés (87,7%).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6. Formación docente y mentorías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¿Qué es? </a:t>
            </a:r>
            <a:r>
              <a:rPr sz="2800">
                <a:solidFill>
                  <a:srgbClr val="404040"/>
                </a:solidFill>
                <a:latin typeface="Century Gothic"/>
              </a:rPr>
              <a:t>Capacitar docentes y activar mentores multidisciplinarios por área.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¿Cómo? </a:t>
            </a:r>
            <a:r>
              <a:rPr sz="2800">
                <a:solidFill>
                  <a:srgbClr val="404040"/>
                </a:solidFill>
                <a:latin typeface="Century Gothic"/>
              </a:rPr>
              <a:t>Talleres (Canvas, Lean, design thinking); banco de mentores y asesores.</a:t>
            </a:r>
          </a:p>
          <a:p>
            <a:pPr algn="l" hangingPunct="1">
              <a:spcAft>
                <a:spcPts val="1200"/>
              </a:spcAft>
            </a:pPr>
            <a:r>
              <a:rPr b="1" sz="2800">
                <a:solidFill>
                  <a:srgbClr val="1E3B7D"/>
                </a:solidFill>
                <a:latin typeface="Century Gothic"/>
              </a:rPr>
              <a:t>Evidencia. </a:t>
            </a:r>
            <a:r>
              <a:rPr sz="2800">
                <a:solidFill>
                  <a:srgbClr val="404040"/>
                </a:solidFill>
                <a:latin typeface="Century Gothic"/>
              </a:rPr>
              <a:t>Mentorías (5/10) y formación docente (4/10); mentores por área (P9).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Implementación por fases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Corto plazo: docentes enlace, mesa de articulación y comunicación (bajo costo).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Mediano plazo: actividades conjuntas, formación docente e inicio curricular.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Largo plazo: integración curricular plena, red de mentores e indicadores sostenidos.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Conclusiones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La articulación es el factor decisivo para que la ruta tenga impacto real.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Las 6 estrategias responden a lo que docentes y estudiantes señalaron.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Se apoyan en el PDI 2022-2031 y son medibles y sostenibles.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Meta: pasar de una actividad aislada a un emprendimiento transversal.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Nueva Paleta Colores UA">
      <a:dk1>
        <a:srgbClr val="E47331"/>
      </a:dk1>
      <a:lt1>
        <a:srgbClr val="FFFFFF"/>
      </a:lt1>
      <a:dk2>
        <a:srgbClr val="1E3B7D"/>
      </a:dk2>
      <a:lt2>
        <a:srgbClr val="E47331"/>
      </a:lt2>
      <a:accent1>
        <a:srgbClr val="E47331"/>
      </a:accent1>
      <a:accent2>
        <a:srgbClr val="1E3B7D"/>
      </a:accent2>
      <a:accent3>
        <a:srgbClr val="FFC000"/>
      </a:accent3>
      <a:accent4>
        <a:srgbClr val="DDA411"/>
      </a:accent4>
      <a:accent5>
        <a:srgbClr val="C5C5C5"/>
      </a:accent5>
      <a:accent6>
        <a:srgbClr val="797979"/>
      </a:accent6>
      <a:hlink>
        <a:srgbClr val="1E3B7D"/>
      </a:hlink>
      <a:folHlink>
        <a:srgbClr val="E47331"/>
      </a:folHlink>
    </a:clrScheme>
    <a:fontScheme name="Personalizado 1">
      <a:majorFont>
        <a:latin typeface="Arial"/>
        <a:ea typeface="Montserrat-Bold"/>
        <a:cs typeface="Montserrat-Bold"/>
      </a:majorFont>
      <a:minorFont>
        <a:latin typeface="Arial"/>
        <a:ea typeface="Montserrat-Bold"/>
        <a:cs typeface="Montserrat-Bold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3175" cap="flat">
          <a:noFill/>
          <a:miter lim="400000"/>
        </a:ln>
        <a:effectLst>
          <a:outerShdw blurRad="12700" dist="127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just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868A8D"/>
            </a:solidFill>
            <a:effectLst/>
            <a:uFillTx/>
            <a:latin typeface="Montserrat Light"/>
            <a:ea typeface="Montserrat Light"/>
            <a:cs typeface="Montserrat Light"/>
            <a:sym typeface="Montserra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Montserrat-Bold"/>
        <a:ea typeface="Montserrat-Bold"/>
        <a:cs typeface="Montserrat-Bold"/>
      </a:majorFont>
      <a:minorFont>
        <a:latin typeface="Montserrat-Bold"/>
        <a:ea typeface="Montserrat-Bold"/>
        <a:cs typeface="Montserrat-Bold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3175" cap="flat">
          <a:noFill/>
          <a:miter lim="400000"/>
        </a:ln>
        <a:effectLst>
          <a:outerShdw blurRad="12700" dist="127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just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868A8D"/>
            </a:solidFill>
            <a:effectLst/>
            <a:uFillTx/>
            <a:latin typeface="Montserrat Light"/>
            <a:ea typeface="Montserrat Light"/>
            <a:cs typeface="Montserrat Light"/>
            <a:sym typeface="Montserra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9259</TotalTime>
  <Words>975</Words>
  <Application>Microsoft Office PowerPoint</Application>
  <PresentationFormat>Personalizado</PresentationFormat>
  <Paragraphs>89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Calibri</vt:lpstr>
      <vt:lpstr>Century Gothic</vt:lpstr>
      <vt:lpstr>Helvetica Light</vt:lpstr>
      <vt:lpstr>Helvetica Neue</vt:lpstr>
      <vt:lpstr>Lato Black</vt:lpstr>
      <vt:lpstr>Montserrat Light</vt:lpstr>
      <vt:lpstr>White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Título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Cesar  Garizabal</cp:lastModifiedBy>
  <cp:revision>335</cp:revision>
  <dcterms:modified xsi:type="dcterms:W3CDTF">2024-11-26T10:58:26Z</dcterms:modified>
</cp:coreProperties>
</file>