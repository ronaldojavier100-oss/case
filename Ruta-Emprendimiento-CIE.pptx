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0" r:id="rId1"/>
  </p:sldMasterIdLst>
  <p:notesMasterIdLst>
    <p:notesMasterId r:id="rId20"/>
  </p:notesMasterIdLst>
  <p:handoutMasterIdLst>
    <p:handoutMasterId r:id="rId21"/>
  </p:handoutMasterIdLst>
  <p:sldIdLst>
    <p:sldId id="626" r:id="rId2"/>
    <p:sldId id="659" r:id="rId38"/>
    <p:sldId id="648" r:id="rId27"/>
    <p:sldId id="631" r:id="rId7"/>
    <p:sldId id="649" r:id="rId28"/>
    <p:sldId id="650" r:id="rId29"/>
    <p:sldId id="651" r:id="rId30"/>
    <p:sldId id="652" r:id="rId31"/>
    <p:sldId id="660" r:id="rId39"/>
    <p:sldId id="653" r:id="rId32"/>
    <p:sldId id="654" r:id="rId33"/>
    <p:sldId id="655" r:id="rId34"/>
    <p:sldId id="656" r:id="rId35"/>
    <p:sldId id="657" r:id="rId36"/>
    <p:sldId id="658" r:id="rId37"/>
    <p:sldId id="661" r:id="rId40"/>
    <p:sldId id="662" r:id="rId41"/>
    <p:sldId id="663" r:id="rId42"/>
    <p:sldId id="580" r:id="rId1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1pPr>
    <a:lvl2pPr marL="0" marR="0" indent="228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2pPr>
    <a:lvl3pPr marL="0" marR="0" indent="457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3pPr>
    <a:lvl4pPr marL="0" marR="0" indent="685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4pPr>
    <a:lvl5pPr marL="0" marR="0" indent="9144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5pPr>
    <a:lvl6pPr marL="0" marR="0" indent="11430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6pPr>
    <a:lvl7pPr marL="0" marR="0" indent="1371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7pPr>
    <a:lvl8pPr marL="0" marR="0" indent="1600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8pPr>
    <a:lvl9pPr marL="0" marR="0" indent="1828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76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1F50"/>
    <a:srgbClr val="1E3B7D"/>
    <a:srgbClr val="FC6B00"/>
    <a:srgbClr val="D07137"/>
    <a:srgbClr val="092561"/>
    <a:srgbClr val="034EA1"/>
    <a:srgbClr val="2C4477"/>
    <a:srgbClr val="F26F21"/>
    <a:srgbClr val="E6914A"/>
    <a:srgbClr val="0F3D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5F0D90-BD82-4996-AB92-AD7498308437}" v="18" dt="2022-03-02T14:42:14.166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3175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3175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3175" cap="flat">
              <a:solidFill>
                <a:srgbClr val="B8B8B8"/>
              </a:solidFill>
              <a:prstDash val="solid"/>
              <a:miter lim="400000"/>
            </a:ln>
          </a:top>
          <a:bottom>
            <a:ln w="3175" cap="flat">
              <a:solidFill>
                <a:srgbClr val="B8B8B8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4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027" autoAdjust="0"/>
    <p:restoredTop sz="92909" autoAdjust="0"/>
  </p:normalViewPr>
  <p:slideViewPr>
    <p:cSldViewPr snapToGrid="0" snapToObjects="1" showGuides="1">
      <p:cViewPr varScale="1">
        <p:scale>
          <a:sx n="56" d="100"/>
          <a:sy n="56" d="100"/>
        </p:scale>
        <p:origin x="990" y="120"/>
      </p:cViewPr>
      <p:guideLst>
        <p:guide orient="horz" pos="4320"/>
        <p:guide pos="76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6.xml"/><Relationship Id="rId18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5/10/relationships/revisionInfo" Target="revisionInfo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59CEE-C3B7-43F6-BAD7-6BAD3658ADF7}" type="datetimeFigureOut">
              <a:rPr lang="en-US" smtClean="0"/>
              <a:t>11/26/2024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277C68-7D69-46F3-9F26-63FA77175FE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3111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778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Logotipo&#10;&#10;Descripción generada automáticamente">
            <a:extLst>
              <a:ext uri="{FF2B5EF4-FFF2-40B4-BE49-F238E27FC236}">
                <a16:creationId xmlns:a16="http://schemas.microsoft.com/office/drawing/2014/main" id="{9DEB18EB-F665-4B41-95C0-716CC0FF13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469" y="1360151"/>
            <a:ext cx="3297658" cy="544505"/>
          </a:xfrm>
          <a:prstGeom prst="rect">
            <a:avLst/>
          </a:prstGeom>
        </p:spPr>
      </p:pic>
      <p:pic>
        <p:nvPicPr>
          <p:cNvPr id="18" name="Imagen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0266" y="10977291"/>
            <a:ext cx="3352800" cy="2318223"/>
          </a:xfrm>
          <a:prstGeom prst="rect">
            <a:avLst/>
          </a:prstGeom>
        </p:spPr>
      </p:pic>
      <p:pic>
        <p:nvPicPr>
          <p:cNvPr id="13" name="Imagen 12" descr="Texto&#10;&#10;Descripción generada automáticamente">
            <a:extLst>
              <a:ext uri="{FF2B5EF4-FFF2-40B4-BE49-F238E27FC236}">
                <a16:creationId xmlns:a16="http://schemas.microsoft.com/office/drawing/2014/main" id="{6F529E33-1AAC-AA2A-1AC2-F29E41E5378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049" y="11117711"/>
            <a:ext cx="7459751" cy="2039489"/>
          </a:xfrm>
          <a:prstGeom prst="rect">
            <a:avLst/>
          </a:prstGeom>
        </p:spPr>
      </p:pic>
      <p:pic>
        <p:nvPicPr>
          <p:cNvPr id="8" name="Imagen 7" descr="Imagen borrosa de un edificio&#10;&#10;Descripción generada automáticamente con confianza media">
            <a:extLst>
              <a:ext uri="{FF2B5EF4-FFF2-40B4-BE49-F238E27FC236}">
                <a16:creationId xmlns:a16="http://schemas.microsoft.com/office/drawing/2014/main" id="{BD8571E4-942B-6137-79F1-64C2108A3C9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39"/>
            <a:ext cx="24402598" cy="982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4059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ás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just" defTabSz="825500" rtl="0" eaLnBrk="1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pPr>
              <a:defRPr/>
            </a:pPr>
            <a:endParaRPr lang="es-CO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76378" y="0"/>
            <a:ext cx="1407622" cy="177383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BD52757-FAC3-88B5-9426-562D11867B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711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con image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3"/>
          <p:cNvSpPr>
            <a:spLocks noGrp="1"/>
          </p:cNvSpPr>
          <p:nvPr>
            <p:ph type="pic" sz="quarter" idx="41"/>
          </p:nvPr>
        </p:nvSpPr>
        <p:spPr>
          <a:xfrm>
            <a:off x="0" y="0"/>
            <a:ext cx="12154829" cy="13716000"/>
          </a:xfrm>
          <a:prstGeom prst="rect">
            <a:avLst/>
          </a:prstGeom>
          <a:effectLst/>
        </p:spPr>
        <p:txBody>
          <a:bodyPr>
            <a:normAutofit/>
          </a:bodyPr>
          <a:lstStyle>
            <a:lvl1pPr marL="0" indent="0">
              <a:buNone/>
              <a:defRPr sz="260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B8212BA-7EAC-78E5-99DD-A5F4DD54884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455893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títulos destac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Forma, Rectángulo&#10;&#10;Descripción generada automáticamente">
            <a:extLst>
              <a:ext uri="{FF2B5EF4-FFF2-40B4-BE49-F238E27FC236}">
                <a16:creationId xmlns:a16="http://schemas.microsoft.com/office/drawing/2014/main" id="{6BE1F532-0428-3B57-30B7-73906B338F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6" y="-22634"/>
            <a:ext cx="24343894" cy="13738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243514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intertitul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45"/>
          <p:cNvSpPr txBox="1">
            <a:spLocks/>
          </p:cNvSpPr>
          <p:nvPr userDrawn="1"/>
        </p:nvSpPr>
        <p:spPr>
          <a:xfrm>
            <a:off x="23036465" y="762695"/>
            <a:ext cx="607907" cy="252890"/>
          </a:xfrm>
          <a:prstGeom prst="rect">
            <a:avLst/>
          </a:prstGeom>
          <a:ln w="3175">
            <a:miter lim="400000"/>
          </a:ln>
        </p:spPr>
        <p:txBody>
          <a:bodyPr lIns="38100" tIns="38100" rIns="38100" bIns="381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5500" rtl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all" spc="0" normalizeH="0" baseline="50000">
                <a:ln>
                  <a:noFill/>
                </a:ln>
                <a:solidFill>
                  <a:srgbClr val="F4F5F7"/>
                </a:solidFill>
                <a:effectLst/>
                <a:uFillTx/>
                <a:latin typeface="Montserrat-Regular"/>
                <a:ea typeface="Montserrat-Regular"/>
                <a:cs typeface="Montserrat-Regular"/>
                <a:sym typeface="Montserrat-Regular"/>
              </a:defRPr>
            </a:lvl1pPr>
            <a:lvl2pPr marL="0" marR="0" indent="228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ctr" defTabSz="825500" rtl="0" eaLnBrk="1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2400" b="0" i="0" u="none" strike="noStrike" kern="0" cap="all" spc="0" normalizeH="0" baseline="5000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sym typeface="Montserrat-Regular"/>
              </a:rPr>
              <a:pPr marL="0" marR="0" lvl="0" indent="0" algn="ctr" defTabSz="825500" rtl="0" eaLnBrk="1" fontAlgn="auto" latinLnBrk="0" hangingPunct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2400" b="0" i="0" u="none" strike="noStrike" kern="0" cap="all" spc="0" normalizeH="0" baseline="5000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  <a:sym typeface="Montserrat-Regular"/>
            </a:endParaRPr>
          </a:p>
        </p:txBody>
      </p:sp>
      <p:sp>
        <p:nvSpPr>
          <p:cNvPr id="5" name="Rectangle 3"/>
          <p:cNvSpPr/>
          <p:nvPr userDrawn="1"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chemeClr val="tx1">
              <a:alpha val="9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Imagen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33FA1FA8-4232-588F-92D2-03596EA6B7C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23861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683473" y="2391065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7432748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13182023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8931297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683473" y="7108538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432748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3182023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18931297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5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C3937770-2847-36C2-1825-E407BE59A6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423579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 de imagen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2015217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11" hasCustomPrompt="1"/>
          </p:nvPr>
        </p:nvSpPr>
        <p:spPr>
          <a:xfrm>
            <a:off x="7442759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8" name="Picture Placeholder 7"/>
          <p:cNvSpPr>
            <a:spLocks noGrp="1"/>
          </p:cNvSpPr>
          <p:nvPr>
            <p:ph type="pic" sz="quarter" idx="12" hasCustomPrompt="1"/>
          </p:nvPr>
        </p:nvSpPr>
        <p:spPr>
          <a:xfrm>
            <a:off x="12870301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9" name="Picture Placeholder 7"/>
          <p:cNvSpPr>
            <a:spLocks noGrp="1"/>
          </p:cNvSpPr>
          <p:nvPr>
            <p:ph type="pic" sz="quarter" idx="13" hasCustomPrompt="1"/>
          </p:nvPr>
        </p:nvSpPr>
        <p:spPr>
          <a:xfrm>
            <a:off x="18302708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BF1F564-7A74-415D-B5E5-6E4462297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0A7EE0FA-7B4E-4596-858E-38478E3346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3E88072-0E7F-1744-60A8-2E5EDB3BE80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807791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1"/>
          </p:nvPr>
        </p:nvSpPr>
        <p:spPr>
          <a:xfrm>
            <a:off x="3498898" y="1760736"/>
            <a:ext cx="7996416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15594207" y="8083844"/>
            <a:ext cx="4912187" cy="4147130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9348191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3498898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7"/>
          <p:cNvSpPr>
            <a:spLocks noGrp="1"/>
          </p:cNvSpPr>
          <p:nvPr>
            <p:ph type="pic" sz="quarter" idx="17"/>
          </p:nvPr>
        </p:nvSpPr>
        <p:spPr>
          <a:xfrm>
            <a:off x="12148457" y="1760736"/>
            <a:ext cx="8357937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44483BD7-0CC1-CB58-98A2-B4D7609A12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345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A6AD9EC-29ED-40B4-A66D-A626F80687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8605F10-6009-4575-9BCC-AB83630BD9B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2B265F6F-716F-5BCD-C4C8-8FBBA01096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872997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Forma, Rectángulo&#10;&#10;Descripción generada automáticamente">
            <a:extLst>
              <a:ext uri="{FF2B5EF4-FFF2-40B4-BE49-F238E27FC236}">
                <a16:creationId xmlns:a16="http://schemas.microsoft.com/office/drawing/2014/main" id="{84AD33C5-4EFC-0DE5-0B08-08F6CC8D6F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284" y="0"/>
            <a:ext cx="24303788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858625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691257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12148457" y="4592779"/>
            <a:ext cx="10642631" cy="919740"/>
          </a:xfrm>
          <a:prstGeom prst="rect">
            <a:avLst/>
          </a:prstGeom>
        </p:spPr>
        <p:txBody>
          <a:bodyPr/>
          <a:lstStyle>
            <a:lvl1pPr algn="l">
              <a:defRPr sz="4000" b="1" i="0" kern="0" spc="-50" baseline="0">
                <a:solidFill>
                  <a:srgbClr val="09256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10642628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4" name="Imagen 3" descr="Forma, Rectángulo&#10;&#10;Descripción generada automáticamente">
            <a:extLst>
              <a:ext uri="{FF2B5EF4-FFF2-40B4-BE49-F238E27FC236}">
                <a16:creationId xmlns:a16="http://schemas.microsoft.com/office/drawing/2014/main" id="{BE843E31-BDFA-AFAE-3445-2C8F64F7BA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34759"/>
            <a:ext cx="10391115" cy="14050759"/>
          </a:xfrm>
          <a:prstGeom prst="rect">
            <a:avLst/>
          </a:prstGeom>
        </p:spPr>
      </p:pic>
      <p:pic>
        <p:nvPicPr>
          <p:cNvPr id="6" name="Imagen 5" descr="Texto&#10;&#10;Descripción generada automáticamente">
            <a:extLst>
              <a:ext uri="{FF2B5EF4-FFF2-40B4-BE49-F238E27FC236}">
                <a16:creationId xmlns:a16="http://schemas.microsoft.com/office/drawing/2014/main" id="{AEFCFBEF-5EBA-8E94-956C-4005E0145D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93336" y="12016654"/>
            <a:ext cx="5387326" cy="1472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1868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508378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9797143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D0879CB9-47C0-5201-A1BF-F44EAAF2FC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751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Final PROHIBIDO MODIFIC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vert="horz"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s-ES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4CFE743-0DB2-8579-CD49-CB992B99C4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17498"/>
      </p:ext>
    </p:extLst>
  </p:cSld>
  <p:clrMapOvr>
    <a:masterClrMapping/>
  </p:clrMapOvr>
  <p:transition>
    <p:fade thruBlk="1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4" name="Imagen 3" descr="Rectángulo&#10;&#10;Descripción generada automáticamente con confianza media">
            <a:extLst>
              <a:ext uri="{FF2B5EF4-FFF2-40B4-BE49-F238E27FC236}">
                <a16:creationId xmlns:a16="http://schemas.microsoft.com/office/drawing/2014/main" id="{08783CB0-B1AC-A449-8724-2F51BE4BF1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800" y="-73938"/>
            <a:ext cx="24434800" cy="1378993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CA8BE37-A72D-7D17-D69E-9D9E0E912AC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17026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Gráfico&#10;&#10;Descripción generada automáticamente">
            <a:extLst>
              <a:ext uri="{FF2B5EF4-FFF2-40B4-BE49-F238E27FC236}">
                <a16:creationId xmlns:a16="http://schemas.microsoft.com/office/drawing/2014/main" id="{0BAF3902-1097-D618-BB5D-660C6BE759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4384000" cy="1376126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52519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1"/>
          <p:cNvSpPr txBox="1">
            <a:spLocks/>
          </p:cNvSpPr>
          <p:nvPr userDrawn="1"/>
        </p:nvSpPr>
        <p:spPr>
          <a:xfrm>
            <a:off x="12200710" y="-3"/>
            <a:ext cx="12197500" cy="13722187"/>
          </a:xfrm>
          <a:custGeom>
            <a:avLst/>
            <a:gdLst>
              <a:gd name="connsiteX0" fmla="*/ 429097 w 6767513"/>
              <a:gd name="connsiteY0" fmla="*/ 0 h 7312515"/>
              <a:gd name="connsiteX1" fmla="*/ 6767513 w 6767513"/>
              <a:gd name="connsiteY1" fmla="*/ 0 h 7312515"/>
              <a:gd name="connsiteX2" fmla="*/ 6767513 w 6767513"/>
              <a:gd name="connsiteY2" fmla="*/ 7312515 h 7312515"/>
              <a:gd name="connsiteX3" fmla="*/ 2634858 w 6767513"/>
              <a:gd name="connsiteY3" fmla="*/ 7312515 h 7312515"/>
              <a:gd name="connsiteX4" fmla="*/ 2444316 w 6767513"/>
              <a:gd name="connsiteY4" fmla="*/ 7175959 h 7312515"/>
              <a:gd name="connsiteX5" fmla="*/ 0 w 6767513"/>
              <a:gd name="connsiteY5" fmla="*/ 2261607 h 7312515"/>
              <a:gd name="connsiteX6" fmla="*/ 369247 w 6767513"/>
              <a:gd name="connsiteY6" fmla="*/ 152978 h 7312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67513" h="7312515">
                <a:moveTo>
                  <a:pt x="429097" y="0"/>
                </a:moveTo>
                <a:lnTo>
                  <a:pt x="6767513" y="0"/>
                </a:lnTo>
                <a:lnTo>
                  <a:pt x="6767513" y="7312515"/>
                </a:lnTo>
                <a:lnTo>
                  <a:pt x="2634858" y="7312515"/>
                </a:lnTo>
                <a:lnTo>
                  <a:pt x="2444316" y="7175959"/>
                </a:lnTo>
                <a:cubicBezTo>
                  <a:pt x="960466" y="6057587"/>
                  <a:pt x="0" y="4272637"/>
                  <a:pt x="0" y="2261607"/>
                </a:cubicBezTo>
                <a:cubicBezTo>
                  <a:pt x="0" y="1520701"/>
                  <a:pt x="130368" y="810482"/>
                  <a:pt x="369247" y="152978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just" defTabSz="8255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868A8D"/>
                </a:solidFill>
                <a:effectLst/>
                <a:uLnTx/>
                <a:uFillTx/>
                <a:latin typeface="Montserrat Light"/>
                <a:sym typeface="Montserrat Light"/>
              </a:rPr>
              <a:t>  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</p:spTree>
    <p:extLst>
      <p:ext uri="{BB962C8B-B14F-4D97-AF65-F5344CB8AC3E}">
        <p14:creationId xmlns:p14="http://schemas.microsoft.com/office/powerpoint/2010/main" val="3694731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15" r:id="rId2"/>
    <p:sldLayoutId id="2147483756" r:id="rId3"/>
    <p:sldLayoutId id="2147483758" r:id="rId4"/>
    <p:sldLayoutId id="2147483757" r:id="rId5"/>
    <p:sldLayoutId id="2147483705" r:id="rId6"/>
    <p:sldLayoutId id="2147483706" r:id="rId7"/>
    <p:sldLayoutId id="2147483707" r:id="rId8"/>
    <p:sldLayoutId id="2147483708" r:id="rId9"/>
    <p:sldLayoutId id="2147483713" r:id="rId10"/>
    <p:sldLayoutId id="2147483753" r:id="rId11"/>
    <p:sldLayoutId id="2147483755" r:id="rId12"/>
    <p:sldLayoutId id="2147483754" r:id="rId13"/>
    <p:sldLayoutId id="2147483759" r:id="rId14"/>
    <p:sldLayoutId id="2147483760" r:id="rId15"/>
  </p:sldLayoutIdLst>
  <p:transition spd="med"/>
  <p:txStyles>
    <p:titleStyle>
      <a:lvl1pPr marL="0" marR="0" indent="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1pPr>
      <a:lvl2pPr marL="0" marR="0" indent="228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2pPr>
      <a:lvl3pPr marL="0" marR="0" indent="457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3pPr>
      <a:lvl4pPr marL="0" marR="0" indent="685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4pPr>
      <a:lvl5pPr marL="0" marR="0" indent="9144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5pPr>
      <a:lvl6pPr marL="0" marR="0" indent="11430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6pPr>
      <a:lvl7pPr marL="0" marR="0" indent="1371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7pPr>
      <a:lvl8pPr marL="0" marR="0" indent="1600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8pPr>
      <a:lvl9pPr marL="0" marR="0" indent="1828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9pPr>
    </p:titleStyle>
    <p:bodyStyle>
      <a:lvl1pPr marL="0" marR="0" indent="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1pPr>
      <a:lvl2pPr marL="0" marR="0" indent="228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2pPr>
      <a:lvl3pPr marL="0" marR="0" indent="457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3pPr>
      <a:lvl4pPr marL="0" marR="0" indent="685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4pPr>
      <a:lvl5pPr marL="0" marR="0" indent="9144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5pPr>
      <a:lvl6pPr marL="0" marR="0" indent="11430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6pPr>
      <a:lvl7pPr marL="0" marR="0" indent="1371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7pPr>
      <a:lvl8pPr marL="0" marR="0" indent="1600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8pPr>
      <a:lvl9pPr marL="0" marR="0" indent="1828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9pPr>
    </p:bodyStyle>
    <p:otherStyle>
      <a:lvl1pPr marL="0" marR="0" indent="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1pPr>
      <a:lvl2pPr marL="0" marR="0" indent="228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2pPr>
      <a:lvl3pPr marL="0" marR="0" indent="457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3pPr>
      <a:lvl4pPr marL="0" marR="0" indent="685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4pPr>
      <a:lvl5pPr marL="0" marR="0" indent="9144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5pPr>
      <a:lvl6pPr marL="0" marR="0" indent="11430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6pPr>
      <a:lvl7pPr marL="0" marR="0" indent="1371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7pPr>
      <a:lvl8pPr marL="0" marR="0" indent="1600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8pPr>
      <a:lvl9pPr marL="0" marR="0" indent="1828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24">
            <a:extLst>
              <a:ext uri="{FF2B5EF4-FFF2-40B4-BE49-F238E27FC236}">
                <a16:creationId xmlns:a16="http://schemas.microsoft.com/office/drawing/2014/main" id="{0F9FF011-E557-0242-A16D-8546393C0B61}"/>
              </a:ext>
            </a:extLst>
          </p:cNvPr>
          <p:cNvGrpSpPr/>
          <p:nvPr/>
        </p:nvGrpSpPr>
        <p:grpSpPr>
          <a:xfrm>
            <a:off x="2697088" y="4402277"/>
            <a:ext cx="7608173" cy="1845698"/>
            <a:chOff x="6263163" y="3823614"/>
            <a:chExt cx="7608173" cy="1845698"/>
          </a:xfrm>
        </p:grpSpPr>
        <p:sp>
          <p:nvSpPr>
            <p:cNvPr id="10" name="TextBox 8"/>
            <p:cNvSpPr txBox="1"/>
            <p:nvPr/>
          </p:nvSpPr>
          <p:spPr>
            <a:xfrm>
              <a:off x="6263163" y="4245396"/>
              <a:ext cx="7608173" cy="142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8000" b="1" dirty="0">
                  <a:solidFill>
                    <a:schemeClr val="tx1"/>
                  </a:solidFill>
                  <a:latin typeface="Century Gothic" panose="020B0502020202020204" pitchFamily="34" charset="0"/>
                  <a:cs typeface="Mongolian Baiti" panose="03000500000000000000" pitchFamily="66" charset="0"/>
                </a:rPr>
                <a:t>EMPRENDIMIENTO</a:t>
              </a:r>
            </a:p>
          </p:txBody>
        </p:sp>
        <p:sp>
          <p:nvSpPr>
            <p:cNvPr id="11" name="TextBox 21">
              <a:extLst>
                <a:ext uri="{FF2B5EF4-FFF2-40B4-BE49-F238E27FC236}">
                  <a16:creationId xmlns:a16="http://schemas.microsoft.com/office/drawing/2014/main" id="{9909CB0A-8073-CF41-B4A5-10EE6A4C7A93}"/>
                </a:ext>
              </a:extLst>
            </p:cNvPr>
            <p:cNvSpPr txBox="1"/>
            <p:nvPr/>
          </p:nvSpPr>
          <p:spPr>
            <a:xfrm>
              <a:off x="6263163" y="3823614"/>
              <a:ext cx="1585690" cy="8435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4000" dirty="0">
                  <a:solidFill>
                    <a:schemeClr val="tx1"/>
                  </a:solidFill>
                  <a:latin typeface="Century Gothic" charset="0"/>
                  <a:ea typeface="Century Gothic" charset="0"/>
                  <a:cs typeface="Century Gothic" charset="0"/>
                </a:rPr>
                <a:t>Guía de la ruta institucional</a:t>
              </a:r>
            </a:p>
          </p:txBody>
        </p:sp>
      </p:grpSp>
      <p:sp>
        <p:nvSpPr>
          <p:cNvPr id="12" name="CuadroTexto 11"/>
          <p:cNvSpPr txBox="1"/>
          <p:nvPr/>
        </p:nvSpPr>
        <p:spPr>
          <a:xfrm>
            <a:off x="2936938" y="6177225"/>
            <a:ext cx="11141803" cy="2292935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ES" sz="34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Ruta Institucional de Emprendimiento — Centro de Innovación y Emprendimiento (CIE)</a:t>
            </a:r>
          </a:p>
          <a:p>
            <a:pPr algn="l">
              <a:lnSpc>
                <a:spcPct val="100000"/>
              </a:lnSpc>
            </a:pPr>
            <a:r>
              <a:rPr lang="es-ES" sz="26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Universidad del Atlántico · Facultad de Ciencias Económicas</a:t>
            </a:r>
          </a:p>
          <a:p>
            <a:pPr algn="l">
              <a:lnSpc>
                <a:spcPct val="100000"/>
              </a:lnSpc>
            </a:pPr>
            <a:r>
              <a:rPr lang="es-ES" sz="26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Guía para estudiantes, egresados y docentes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24E3766-D207-4F78-9F5A-329C0A98D9AD}"/>
              </a:ext>
            </a:extLst>
          </p:cNvPr>
          <p:cNvSpPr/>
          <p:nvPr/>
        </p:nvSpPr>
        <p:spPr>
          <a:xfrm>
            <a:off x="2473513" y="4565065"/>
            <a:ext cx="55984" cy="2057745"/>
          </a:xfrm>
          <a:prstGeom prst="rect">
            <a:avLst/>
          </a:prstGeom>
          <a:solidFill>
            <a:schemeClr val="accent2"/>
          </a:solidFill>
          <a:ln w="3175" cap="flat">
            <a:noFill/>
            <a:miter lim="400000"/>
          </a:ln>
          <a:effectLst>
            <a:outerShdw blurRad="12700" dist="127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CO" sz="30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657472973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4;p28"/>
          <p:cNvSpPr txBox="1">
            <a:spLocks/>
          </p:cNvSpPr>
          <p:nvPr/>
        </p:nvSpPr>
        <p:spPr>
          <a:xfrm>
            <a:off x="3731714" y="4777893"/>
            <a:ext cx="16341340" cy="21921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indent="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1pPr>
            <a:lvl2pPr marL="0" marR="0" indent="228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2pPr>
            <a:lvl3pPr marL="0" marR="0" indent="457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3pPr>
            <a:lvl4pPr marL="0" marR="0" indent="685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4pPr>
            <a:lvl5pPr marL="0" marR="0" indent="9144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5pPr>
            <a:lvl6pPr marL="0" marR="0" indent="11430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6pPr>
            <a:lvl7pPr marL="0" marR="0" indent="1371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7pPr>
            <a:lvl8pPr marL="0" marR="0" indent="1600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8pPr>
            <a:lvl9pPr marL="0" marR="0" indent="1828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s-CO" b="1" dirty="0" sz="640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67% conoce poco o nada el CIE</a:t>
            </a:r>
          </a:p>
        </p:txBody>
      </p:sp>
      <p:sp>
        <p:nvSpPr>
          <p:cNvPr id="3" name="Google Shape;235;p28"/>
          <p:cNvSpPr txBox="1">
            <a:spLocks/>
          </p:cNvSpPr>
          <p:nvPr/>
        </p:nvSpPr>
        <p:spPr>
          <a:xfrm>
            <a:off x="3387220" y="7842022"/>
            <a:ext cx="17030329" cy="22670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114300" algn="ctr" hangingPunct="1">
              <a:lnSpc>
                <a:spcPct val="100000"/>
              </a:lnSpc>
            </a:pPr>
            <a:r>
              <a:rPr lang="es-ES" sz="3400" dirty="0">
                <a:solidFill>
                  <a:schemeClr val="tx1"/>
                </a:solidFill>
                <a:latin typeface="Century Gothic" panose="020B0502020202020204" pitchFamily="34" charset="0"/>
              </a:rPr>
              <a:t>…pese a que el 87,7% manifiesta interés en emprender. Esta guía busca dar a conocer la ruta y facilitar el acceso de toda la comunidad.</a:t>
            </a:r>
          </a:p>
        </p:txBody>
      </p:sp>
    </p:spTree>
    <p:extLst>
      <p:ext uri="{BB962C8B-B14F-4D97-AF65-F5344CB8AC3E}">
        <p14:creationId xmlns:p14="http://schemas.microsoft.com/office/powerpoint/2010/main" val="4191427176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/>
          <p:cNvSpPr/>
          <p:nvPr/>
        </p:nvSpPr>
        <p:spPr>
          <a:xfrm>
            <a:off x="8173111" y="1222599"/>
            <a:ext cx="8037778" cy="55976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85561998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¿Qué es la Ruta de Emprendimiento?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Instrumento que organiza, por fases, el acompañamiento del CIE al emprendedor.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Dirigida a estudiantes, egresados y docentes de todas las facultades.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Va desde despertar la idea hasta conectarla con financiación y el mercado.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 no lineal: cada proyecto entra en la fase según su nivel de madurez.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Fundamento en el PDI 2022-2031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28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Línea Estratégica 3: Extensión y Proyección Social.</a:t>
            </a:r>
          </a:p>
          <a:p>
            <a:pPr algn="l" hangingPunct="1">
              <a:spcAft>
                <a:spcPts val="1400"/>
              </a:spcAft>
            </a:pPr>
            <a:r>
              <a:rPr lang="es-CO" sz="28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Estrategia 7: sensibilización, acompañamiento y transferencia de conocimiento.</a:t>
            </a:r>
          </a:p>
          <a:p>
            <a:pPr algn="l" hangingPunct="1">
              <a:spcAft>
                <a:spcPts val="1400"/>
              </a:spcAft>
            </a:pPr>
            <a:r>
              <a:rPr lang="es-CO" sz="28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Estrategia 2: cultura de innovación y emprendimiento (formación y asesoría).</a:t>
            </a:r>
          </a:p>
          <a:p>
            <a:pPr algn="l" hangingPunct="1">
              <a:spcAft>
                <a:spcPts val="1400"/>
              </a:spcAft>
            </a:pPr>
            <a:r>
              <a:rPr lang="es-CO" sz="28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Metas: política de innovación y emprendimiento; Centro 'UA Emprende' (≥3% sostenibilidad); 2 spin-off; Parque Tecnológico del Caribe.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Principios de la ruta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No lineal: cada iniciativa entra según su nivel de madurez.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Flexible y personalizada.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Transversal a todas las facultades.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Articulada con el ecosistema regional.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Basada en la demanda real de los estudiantes.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Medible, con indicadores de impacto.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Actores y roles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CIE: coordina la ruta y mide los indicadores.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Docente enlace por facultad: puente permanente CIE–facultad.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Mentores multidisciplinarios: docentes, empresarios y egresados.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Semilleros y grupos de investigación.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Aliados externos: Cientech (OTRI), Cámaras de Comercio, MacondoLab, Ruta 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Esquema general de la ruta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pic>
        <p:nvPicPr>
          <p:cNvPr id="13" name="Picture 12" descr="ruta_emprendi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610" y="3840480"/>
            <a:ext cx="16261828" cy="78638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1 · Sensibilización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despertar la cultura emprendedora y dar a conocer el CIE.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charlas y talleres, ferias y muestras, cine-foros y testimonios, campañas de difusión.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metodologías activas y casos de éxito (storytelling).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 y docentes enlace.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comunidad sensibilizada y base de datos de interesados.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transversal / continuo.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2 · Identificación e ideación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captar las ideas y ayudarlas a tomar forma inicial.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convocatorias internas, ideación asistida, vínculo con semilleros.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design thinking (empatía e ideación).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CIE, docente enlace y semilleros.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idea o proyecto inscrito con ficha inicial.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1 a 2.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3 · Diagnóstico y clasificación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determinar el nivel de madurez y definir la ruta personalizada.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entrevista y herramienta de clasificación; asignación de mentor.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diagnóstico por niveles de madurez.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equipo técnico del CIE.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diagnóstico del proyecto y ruta personalizada.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2 a 3.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4 · Formación y preincubación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fortalecer capacidades y validar la propuesta de valor.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modelo de negocio (BMC), educación financiera, marketing, MVP.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Business Model Canvas, Lean Startup, design thinking, MVP.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CIE, mentores y docentes enlace.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modelo de negocio validado y MVP.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3 a 8.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5 · Incubación y fortalecimiento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poner en marcha y robustecer el emprendimiento.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mentorías, branding, transformación digital, asesoría legal y tributaria.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mentoría estructurada; herramientas de branding y digitales.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mentores multidisciplinarios y aliados.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emprendimiento en operación con acompañamiento.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8 a 14.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6 · Aceleración, financiación y transferencia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escalar y conectar la iniciativa con el ecosistema.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ferias y ruedas de negocio, convocatorias, capital semilla, spin-offs.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Aliados: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Cientech (OTRI), Parque Tecnológico del Caribe, CICIT, Cámaras de Comercio, inversionistas.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proyecto conectado a financiación y mercado; propiedad intelectual protegida.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 14 en adelante.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Contenido de la guía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¿Qué es la ruta y a quién está dirigida?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Por qué la necesitamos: el diagnóstico.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Fundamento institucional (PDI 2022-2031).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Principios, actores y esquema general.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Las 6 fases de la ruta, paso a paso.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Indicadores, articulación y cómo acceder al CIE.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234;p28"/>
          <p:cNvSpPr txBox="1">
            <a:spLocks/>
          </p:cNvSpPr>
          <p:nvPr/>
        </p:nvSpPr>
        <p:spPr>
          <a:xfrm>
            <a:off x="3731714" y="4777893"/>
            <a:ext cx="16341340" cy="21921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indent="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1pPr>
            <a:lvl2pPr marL="0" marR="0" indent="228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2pPr>
            <a:lvl3pPr marL="0" marR="0" indent="457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3pPr>
            <a:lvl4pPr marL="0" marR="0" indent="685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4pPr>
            <a:lvl5pPr marL="0" marR="0" indent="9144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5pPr>
            <a:lvl6pPr marL="0" marR="0" indent="11430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6pPr>
            <a:lvl7pPr marL="0" marR="0" indent="1371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7pPr>
            <a:lvl8pPr marL="0" marR="0" indent="1600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8pPr>
            <a:lvl9pPr marL="0" marR="0" indent="1828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s-CO" b="1" dirty="0" sz="600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Las 6 fases de la ruta</a:t>
            </a:r>
          </a:p>
        </p:txBody>
      </p:sp>
      <p:sp>
        <p:nvSpPr>
          <p:cNvPr id="3" name="Google Shape;235;p28"/>
          <p:cNvSpPr txBox="1">
            <a:spLocks/>
          </p:cNvSpPr>
          <p:nvPr/>
        </p:nvSpPr>
        <p:spPr>
          <a:xfrm>
            <a:off x="3387220" y="7842022"/>
            <a:ext cx="17030329" cy="22670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114300" algn="ctr" hangingPunct="1">
              <a:lnSpc>
                <a:spcPct val="100000"/>
              </a:lnSpc>
            </a:pPr>
            <a:r>
              <a:rPr lang="es-ES" sz="3000" dirty="0">
                <a:solidFill>
                  <a:schemeClr val="tx1"/>
                </a:solidFill>
                <a:latin typeface="Century Gothic" panose="020B0502020202020204" pitchFamily="34" charset="0"/>
              </a:rPr>
              <a:t>De la idea al mercado: un acompañamiento por etapas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Indicadores de seguimiento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Personas sensibilizadas por año.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Proyectos diagnosticados y acompañados por fase.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% de proyectos vigentes a 3 años (≥3% — meta PDI).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Títulos de propiedad intelectual y spin-offs.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Facultades con docente enlace activo.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Articulación con las facultades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Docente enlace por facultad con reuniones periódicas.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Integración curricular del emprendimiento en las asignaturas.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Retos interdisciplinarios entre facultades.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Difusión segmentada: correo institucional + WhatsApp.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¿Cómo acceder al CIE?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Acércate al Centro de Innovación y Emprendimiento (CIE).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Mantente atento a las convocatorias y actividades (correo institucional y WhatsApp).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Consulta al docente enlace de tu facultad.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Inscribe tu idea: el CIE la ubicará en la fase según su nivel de madurez.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Contacto oficial: [completar con el correo y teléfono del CIE].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Nueva Paleta Colores UA">
      <a:dk1>
        <a:srgbClr val="E47331"/>
      </a:dk1>
      <a:lt1>
        <a:srgbClr val="FFFFFF"/>
      </a:lt1>
      <a:dk2>
        <a:srgbClr val="1E3B7D"/>
      </a:dk2>
      <a:lt2>
        <a:srgbClr val="E47331"/>
      </a:lt2>
      <a:accent1>
        <a:srgbClr val="E47331"/>
      </a:accent1>
      <a:accent2>
        <a:srgbClr val="1E3B7D"/>
      </a:accent2>
      <a:accent3>
        <a:srgbClr val="FFC000"/>
      </a:accent3>
      <a:accent4>
        <a:srgbClr val="DDA411"/>
      </a:accent4>
      <a:accent5>
        <a:srgbClr val="C5C5C5"/>
      </a:accent5>
      <a:accent6>
        <a:srgbClr val="797979"/>
      </a:accent6>
      <a:hlink>
        <a:srgbClr val="1E3B7D"/>
      </a:hlink>
      <a:folHlink>
        <a:srgbClr val="E47331"/>
      </a:folHlink>
    </a:clrScheme>
    <a:fontScheme name="Personalizado 1">
      <a:majorFont>
        <a:latin typeface="Arial"/>
        <a:ea typeface="Montserrat-Bold"/>
        <a:cs typeface="Montserrat-Bold"/>
      </a:majorFont>
      <a:minorFont>
        <a:latin typeface="Arial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Montserrat-Bold"/>
        <a:ea typeface="Montserrat-Bold"/>
        <a:cs typeface="Montserrat-Bold"/>
      </a:majorFont>
      <a:minorFont>
        <a:latin typeface="Montserrat-Bold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9259</TotalTime>
  <Words>975</Words>
  <Application>Microsoft Office PowerPoint</Application>
  <PresentationFormat>Personalizado</PresentationFormat>
  <Paragraphs>89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6" baseType="lpstr">
      <vt:lpstr>Arial</vt:lpstr>
      <vt:lpstr>Calibri</vt:lpstr>
      <vt:lpstr>Century Gothic</vt:lpstr>
      <vt:lpstr>Helvetica Light</vt:lpstr>
      <vt:lpstr>Helvetica Neue</vt:lpstr>
      <vt:lpstr>Lato Black</vt:lpstr>
      <vt:lpstr>Montserrat Light</vt:lpstr>
      <vt:lpstr>White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Título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lenovo</dc:creator>
  <cp:lastModifiedBy>Cesar  Garizabal</cp:lastModifiedBy>
  <cp:revision>335</cp:revision>
  <dcterms:modified xsi:type="dcterms:W3CDTF">2024-11-26T10:58:26Z</dcterms:modified>
</cp:coreProperties>
</file>